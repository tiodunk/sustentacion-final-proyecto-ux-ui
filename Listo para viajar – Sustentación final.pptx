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Andrés: Hola. Somos Andrés Meneses, David Monsalve y David Cifuentes, y este es nuestro proyecto: «Cuando pagar no es poder viajar».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Andrés: Son las 9:30 de la noche. Yeimy, auxiliar de farmacia de 34 años que vive en Bosa, recarga veinte mil pesos en la app de tullave. La pantalla dice «recarga exitosa». A las 5:05 de la mañana, el torniquete la rechaza con quince personas detrás. Pierde quince minutos en la taquilla. El dinero estaba, pero todavía no se podía usar.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Andrés: Ese es el problema de diseño. Entre pagar y poder viajar hay un estado, «pendiente de activación», que ninguna interfaz muestra. En nuestra investigación, los cuatro participantes tomaron la confirmación de pago como el final del proceso. «Pensé que con eso bastaba», nos dijo Yeimy.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Andrés: Nuestra usuaria principal es Yeimy: depende del sistema, no tiene margen de tiempo y tiene pocos datos móviles. Además cuidamos dos segmentos críticos: adultos mayores y usuarios esporádicos. El contexto tiene dos momentos opuestos. La recarga se hace en calma, en casa. El ingreso se hace de pie, con una mano, en tres a ocho segundos y con la fila detrás.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Andrés: Nuestra propuesta es «Listo para viajar», un rediseño del ciclo de recarga con cuatro piezas: una confirmación que separa pago recibido de saldo disponible, un indicador de estado siempre visible, un aviso durante el trayecto que también llega por SMS, y una ruta corta, «Me rechazaron», para resolver sin pedir ayuda. David M les cuenta cómo la evaluamos.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M: Evaluamos la versión 1 del prototipo navegable con tres métodos que se complementan. Participantes: primero, el equipo hizo un recorrido cognitivo y una revisión heurística. Después, el 4 de octubre, revisamos el prototipo con tres usuarias que usan TransMilenio a diario: Claudia, Ares y Rosalbina, una adulta mayor. Tareas: las mismas tres en todos los métodos. Criterios de éxito, fijados desde el brief: saber si puede viajar, detectar el pendiente antes del torniquete y resolverlo sin ayuda. Métricas: si cumplía el criterio, toques hasta la solución y severidad de 0 a 4 según Nielsen. Instrumentos: hoja de recorrido cognitivo con las cuatro preguntas del método, matriz de las diez heurísticas y notas de la sesión.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M: El resultado principal fue incómodo, y por eso fue útil: la versión 1 no cumplía el primer criterio de éxito. Repetía el mismo «recarga exitosa» del sistema actual, y al terminar de pagar nada indicaba que faltaba un paso. Encontramos siete problemas: dos de severidad 4, tres de severidad 3 y dos de severidad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M: De estos problemas salen tres patrones. Primero, el prototipo heredaba el error que quería corregir: el lenguaje del operador y el mensaje de éxito como cierre. Segundo, la información crítica estaba en elementos secundarios: una nota gris, un texto de 13 px y un color sin icono ni texto. Tercero, bajo presión, cada toque cuenta. Las usuarias aportaron una mirada que el equipo no tenía. Claudia pidió que la app se reconociera como parte de TransMilenio. Rosalbina pidió una letra fácil de leer. Ares pidió colores frescos y una interacción muy intuitiva; este último punto todavía está en validación. Cada problema de severidad 3 o 4 se volvió un cambio obligatorio. David C les muestra el antes y el después.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C: Gracias, David. Les muestro los cuatro cambios más importantes. Uno: la confirmación deja de ser un cierre. Antes decía «¡Recarga exitosa!» y tenía un botón «Finalizar». Ahora muestra dos pasos numerados: pago recibido y saldo todavía no, con la hora exacta de activación y una cuenta regresiva. Responde al problema de severidad 4 y al hallazgo que organiza todo el proyecto. Aplica la visibilidad del estado de Nielsen y el efecto Zeigarnik: una tarea incompleta debe verse incompleta.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C: Dos: un valor nunca aparece sin su estado. Antes, el inicio sumaba $20.850 en un solo saldo. Ahora separa lo que ya sirve para viajar de lo que todavía no, con icono, texto de 32 px y una acción. El color ya no es el único portador del significado, como pide WCAG 1.4.1, y la pantalla se entiende igual en escala de grises.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C: Tres: de «Ayuda» a «Me rechazaron». Antes había que entrar a Ayuda y elegir entre cuatro causas escritas en jerga del operador. Ahora hay un acceso directo en el inicio que muestra una sola causa probable y la solución a 20 metros. Pasamos de tres toques a uno. Aplica las heurísticas 2 y 9 y la ley de Hick, porque frente al torniquete solo hay de tres a ocho segundos.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C: Cuatro: un aviso con el que se puede actuar. Antes decía «Tienes una recarga pendiente». Ahora dice dónde activar, en qué torniquete y cuánto tarda, y llega también por SMS para quien no tiene datos, como Don Aurelio. Aplica la prevención de errores: el error se evita, no se explica. Además, la tarjeta ya no se vuelve a digitar y la activación se anuncia antes de pagar. Siguiendo a Claudia y Rosalbina, adoptamos la paleta de TransMilenio con contrastes entre 5,4:1 y 8,2:1, letra de 16 px como mínimo y la opción «Texto grande».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David C: Ninguna mejora nació de una preferencia. Cada una se puede rastrear desde la evidencia hasta la pantalla. (No leer la tabla completa; dejarla en pantalla unos segundos.) Para cerrar, cada uno les comparte lo que se lleva de este proceso.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Andrés: Aprendimos que el problema no estaba en una pantalla, sino en el silencio entre dos pantallas. Y aprendimos a desconfiar de nuestro propio diseño: la versión 1 repetía el «recarga exitosa» que criticábamos, y solo lo vimos al evaluarla. David M: La evaluación fue sobre todo experta. Las tres usuarias eran familiares del equipo, y eso puede suavizar la crítica. Ninguna sesión ocurrió en un torniquete real. Además, el prototipo simula el NFC, el SMS y los tiempos de activación. David C: El siguiente paso es una prueba formal con cinco participantes de los segmentos críticos, en la estación, midiendo éxito, tiempo y facilidad percibida. También hay que validar con lector de pantalla y lograr que el validador use el mismo distintivo de estado que la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Andrés: Pagar todavía no es poder viajar. Pero con «Listo para viajar», Yeimy lo sabe antes de llegar al torniquete.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E1B3D"/>
                </a:solidFill>
                <a:latin typeface="Libre Franklin" pitchFamily="34" charset="0"/>
                <a:ea typeface="Libre Franklin" pitchFamily="34" charset="-122"/>
                <a:cs typeface="Libre Franklin"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0E1B3D"/>
                </a:solidFill>
                <a:latin typeface="Libre Franklin" pitchFamily="34" charset="0"/>
                <a:ea typeface="Libre Franklin" pitchFamily="34" charset="-122"/>
                <a:cs typeface="Libre Franklin"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1"/>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0E1B3D"/>
                </a:solidFill>
                <a:latin typeface="Libre Franklin" pitchFamily="34" charset="0"/>
                <a:ea typeface="Libre Franklin" pitchFamily="34" charset="-122"/>
                <a:cs typeface="Libre Franklin"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0E1B3D"/>
                </a:solidFill>
                <a:latin typeface="Libre Franklin" pitchFamily="34" charset="0"/>
                <a:ea typeface="Libre Franklin" pitchFamily="34" charset="-122"/>
                <a:cs typeface="Libre Franklin"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2.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3D"/>
        </a:solidFill>
      </p:bgPr>
    </p:bg>
    <p:spTree>
      <p:nvGrpSpPr>
        <p:cNvPr id="1" name=""/>
        <p:cNvGrpSpPr/>
        <p:nvPr/>
      </p:nvGrpSpPr>
      <p:grpSpPr>
        <a:xfrm>
          <a:off x="0" y="0"/>
          <a:ext cx="0" cy="0"/>
          <a:chOff x="0" y="0"/>
          <a:chExt cx="0" cy="0"/>
        </a:xfrm>
      </p:grpSpPr>
      <p:sp>
        <p:nvSpPr>
          <p:cNvPr id="2" name="Text 0"/>
          <p:cNvSpPr/>
          <p:nvPr/>
        </p:nvSpPr>
        <p:spPr>
          <a:xfrm>
            <a:off x="812800" y="1845370"/>
            <a:ext cx="805789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3D82E"/>
                </a:solidFill>
                <a:latin typeface="Libre Franklin" pitchFamily="34" charset="0"/>
                <a:ea typeface="Libre Franklin" pitchFamily="34" charset="-122"/>
                <a:cs typeface="Libre Franklin" pitchFamily="34" charset="-120"/>
              </a:rPr>
              <a:t>UNIVERSIDAD DE LA SABANA · MAESTRÍA UX/UI · SUSTENTACIÓN FINAL</a:t>
            </a:r>
            <a:endParaRPr lang="en-US" sz="1200" dirty="0"/>
          </a:p>
        </p:txBody>
      </p:sp>
      <p:sp>
        <p:nvSpPr>
          <p:cNvPr id="3" name="Text 1"/>
          <p:cNvSpPr/>
          <p:nvPr>
            <p:ph type="title"/>
          </p:nvPr>
        </p:nvSpPr>
        <p:spPr>
          <a:xfrm>
            <a:off x="812800" y="2312690"/>
            <a:ext cx="8057896"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6F1"/>
                </a:solidFill>
                <a:latin typeface="Libre Franklin" pitchFamily="34" charset="0"/>
                <a:ea typeface="Libre Franklin" pitchFamily="34" charset="-122"/>
                <a:cs typeface="Libre Franklin" pitchFamily="34" charset="-120"/>
              </a:rPr>
              <a:t>Cuando pagar no es poder viajar</a:t>
            </a:r>
            <a:endParaRPr lang="en-US" sz="6000" dirty="0"/>
          </a:p>
        </p:txBody>
      </p:sp>
      <p:sp>
        <p:nvSpPr>
          <p:cNvPr id="4" name="Text 2"/>
          <p:cNvSpPr/>
          <p:nvPr/>
        </p:nvSpPr>
        <p:spPr>
          <a:xfrm>
            <a:off x="812800" y="4166890"/>
            <a:ext cx="8057896" cy="388541"/>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BFC8DA"/>
                </a:solidFill>
                <a:latin typeface="Libre Franklin" pitchFamily="34" charset="0"/>
                <a:ea typeface="Libre Franklin" pitchFamily="34" charset="-122"/>
                <a:cs typeface="Libre Franklin" pitchFamily="34" charset="-120"/>
              </a:rPr>
              <a:t>«Listo para viajar»: rediseño del ciclo de recarga de tullave</a:t>
            </a:r>
            <a:endParaRPr lang="en-US" sz="2200" dirty="0"/>
          </a:p>
        </p:txBody>
      </p:sp>
      <p:sp>
        <p:nvSpPr>
          <p:cNvPr id="5" name="Text 3"/>
          <p:cNvSpPr/>
          <p:nvPr/>
        </p:nvSpPr>
        <p:spPr>
          <a:xfrm>
            <a:off x="812800" y="4784030"/>
            <a:ext cx="8057896" cy="254000"/>
          </a:xfrm>
          <a:prstGeom prst="rect">
            <a:avLst/>
          </a:prstGeom>
          <a:noFill/>
          <a:ln/>
        </p:spPr>
        <p:txBody>
          <a:bodyPr wrap="square" lIns="0" tIns="0" rIns="0" bIns="0" rtlCol="0" anchor="t">
            <a:normAutofit/>
          </a:bodyPr>
          <a:lstStyle/>
          <a:p>
            <a:pPr algn="l" indent="0" marL="0">
              <a:lnSpc>
                <a:spcPts val="1800"/>
              </a:lnSpc>
              <a:buNone/>
            </a:pPr>
            <a:r>
              <a:rPr lang="en-US" sz="1200" dirty="0">
                <a:solidFill>
                  <a:srgbClr val="BFC8DA"/>
                </a:solidFill>
                <a:latin typeface="Libre Franklin" pitchFamily="34" charset="0"/>
                <a:ea typeface="Libre Franklin" pitchFamily="34" charset="-122"/>
                <a:cs typeface="Libre Franklin" pitchFamily="34" charset="-120"/>
              </a:rPr>
              <a:t>Andrés Camilo Meneses Ortega · David Hernando Monsalve Delima · David Felipe Cifuentes Villa</a:t>
            </a:r>
            <a:endParaRPr lang="en-US" sz="1200" dirty="0"/>
          </a:p>
        </p:txBody>
      </p:sp>
      <p:pic>
        <p:nvPicPr>
          <p:cNvPr id="6" name="Image 0" descr="Pantalla de confirmación de la versión 2: pago recibido, falta un paso para viajar">    </p:cNvPr>
          <p:cNvPicPr>
            <a:picLocks noChangeAspect="1"/>
          </p:cNvPicPr>
          <p:nvPr/>
        </p:nvPicPr>
        <p:blipFill>
          <a:blip r:embed="rId1"/>
          <a:srcRect l="0" r="0" t="-31" b="-31"/>
          <a:stretch/>
        </p:blipFill>
        <p:spPr>
          <a:xfrm>
            <a:off x="9245600" y="1206500"/>
            <a:ext cx="2133600" cy="4445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3FA0"/>
                </a:solidFill>
                <a:latin typeface="Libre Franklin" pitchFamily="34" charset="0"/>
                <a:ea typeface="Libre Franklin" pitchFamily="34" charset="-122"/>
                <a:cs typeface="Libre Franklin" pitchFamily="34" charset="-120"/>
              </a:rPr>
              <a:t>EL PROBLEMA EN UNA ESCENA</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D"/>
                </a:solidFill>
                <a:latin typeface="Libre Franklin" pitchFamily="34" charset="0"/>
                <a:ea typeface="Libre Franklin" pitchFamily="34" charset="-122"/>
                <a:cs typeface="Libre Franklin" pitchFamily="34" charset="-120"/>
              </a:rPr>
              <a:t>Yeimy pagó. El sistema igual la rechazó.</a:t>
            </a:r>
            <a:endParaRPr lang="en-US" sz="3600" dirty="0"/>
          </a:p>
        </p:txBody>
      </p:sp>
      <p:sp>
        <p:nvSpPr>
          <p:cNvPr id="4" name="Shape 2"/>
          <p:cNvSpPr/>
          <p:nvPr/>
        </p:nvSpPr>
        <p:spPr>
          <a:xfrm>
            <a:off x="815975" y="1989336"/>
            <a:ext cx="5181600" cy="3412629"/>
          </a:xfrm>
          <a:prstGeom prst="roundRect">
            <a:avLst>
              <a:gd name="adj" fmla="val 3628"/>
            </a:avLst>
          </a:prstGeom>
          <a:solidFill>
            <a:srgbClr val="FFFFFF"/>
          </a:solidFill>
          <a:ln w="6350">
            <a:solidFill>
              <a:srgbClr val="DADDD4"/>
            </a:solidFill>
            <a:prstDash val="solid"/>
          </a:ln>
        </p:spPr>
      </p:sp>
      <p:sp>
        <p:nvSpPr>
          <p:cNvPr id="5" name="Text 3"/>
          <p:cNvSpPr/>
          <p:nvPr/>
        </p:nvSpPr>
        <p:spPr>
          <a:xfrm>
            <a:off x="1123950" y="2297311"/>
            <a:ext cx="470262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1E6B3A"/>
                </a:solidFill>
                <a:latin typeface="Libre Franklin" pitchFamily="34" charset="0"/>
                <a:ea typeface="Libre Franklin" pitchFamily="34" charset="-122"/>
                <a:cs typeface="Libre Franklin" pitchFamily="34" charset="-120"/>
              </a:rPr>
              <a:t>9:30 p. m.</a:t>
            </a:r>
            <a:endParaRPr lang="en-US" sz="2200" dirty="0"/>
          </a:p>
        </p:txBody>
      </p:sp>
      <p:sp>
        <p:nvSpPr>
          <p:cNvPr id="6" name="Text 4"/>
          <p:cNvSpPr/>
          <p:nvPr/>
        </p:nvSpPr>
        <p:spPr>
          <a:xfrm>
            <a:off x="1123950" y="2815431"/>
            <a:ext cx="470262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1B3D"/>
                </a:solidFill>
                <a:latin typeface="Libre Franklin" pitchFamily="34" charset="0"/>
                <a:ea typeface="Libre Franklin" pitchFamily="34" charset="-122"/>
                <a:cs typeface="Libre Franklin" pitchFamily="34" charset="-120"/>
              </a:rPr>
              <a:t>«¡Recarga exitosa!»</a:t>
            </a:r>
            <a:endParaRPr lang="en-US" sz="2200" dirty="0"/>
          </a:p>
        </p:txBody>
      </p:sp>
      <p:sp>
        <p:nvSpPr>
          <p:cNvPr id="7" name="Text 5"/>
          <p:cNvSpPr/>
          <p:nvPr/>
        </p:nvSpPr>
        <p:spPr>
          <a:xfrm>
            <a:off x="1123950" y="3277691"/>
            <a:ext cx="470262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Libre Franklin" pitchFamily="34" charset="0"/>
                <a:ea typeface="Libre Franklin" pitchFamily="34" charset="-122"/>
                <a:cs typeface="Libre Franklin" pitchFamily="34" charset="-120"/>
              </a:rPr>
              <a:t>Recarga $20.000 desde la app. El débito es inmediato. Para ella, la tarea terminó.</a:t>
            </a:r>
            <a:endParaRPr lang="en-US" sz="1600" dirty="0"/>
          </a:p>
        </p:txBody>
      </p:sp>
      <p:sp>
        <p:nvSpPr>
          <p:cNvPr id="8" name="Shape 6"/>
          <p:cNvSpPr/>
          <p:nvPr/>
        </p:nvSpPr>
        <p:spPr>
          <a:xfrm>
            <a:off x="6203950" y="1986161"/>
            <a:ext cx="5175250" cy="3418979"/>
          </a:xfrm>
          <a:prstGeom prst="roundRect">
            <a:avLst>
              <a:gd name="adj" fmla="val 3715"/>
            </a:avLst>
          </a:prstGeom>
          <a:solidFill>
            <a:srgbClr val="F6E4E4"/>
          </a:solidFill>
          <a:ln/>
        </p:spPr>
      </p:sp>
      <p:sp>
        <p:nvSpPr>
          <p:cNvPr id="9" name="Text 7"/>
          <p:cNvSpPr/>
          <p:nvPr/>
        </p:nvSpPr>
        <p:spPr>
          <a:xfrm>
            <a:off x="6508750" y="2290961"/>
            <a:ext cx="4702620" cy="416520"/>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A30C0C"/>
                </a:solidFill>
                <a:latin typeface="Libre Franklin" pitchFamily="34" charset="0"/>
                <a:ea typeface="Libre Franklin" pitchFamily="34" charset="-122"/>
                <a:cs typeface="Libre Franklin" pitchFamily="34" charset="-120"/>
              </a:rPr>
              <a:t>5:05 a. m.</a:t>
            </a:r>
            <a:endParaRPr lang="en-US" sz="2200" dirty="0"/>
          </a:p>
        </p:txBody>
      </p:sp>
      <p:sp>
        <p:nvSpPr>
          <p:cNvPr id="10" name="Text 8"/>
          <p:cNvSpPr/>
          <p:nvPr/>
        </p:nvSpPr>
        <p:spPr>
          <a:xfrm>
            <a:off x="6508750" y="2809081"/>
            <a:ext cx="4702620" cy="360660"/>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0E1B3D"/>
                </a:solidFill>
                <a:latin typeface="Libre Franklin" pitchFamily="34" charset="0"/>
                <a:ea typeface="Libre Franklin" pitchFamily="34" charset="-122"/>
                <a:cs typeface="Libre Franklin" pitchFamily="34" charset="-120"/>
              </a:rPr>
              <a:t>Rechazada en el torniquete</a:t>
            </a:r>
            <a:endParaRPr lang="en-US" sz="2200" dirty="0"/>
          </a:p>
        </p:txBody>
      </p:sp>
      <p:sp>
        <p:nvSpPr>
          <p:cNvPr id="11" name="Text 9"/>
          <p:cNvSpPr/>
          <p:nvPr/>
        </p:nvSpPr>
        <p:spPr>
          <a:xfrm>
            <a:off x="6508750" y="3271341"/>
            <a:ext cx="4702620" cy="87878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2626"/>
                </a:solidFill>
                <a:latin typeface="Libre Franklin" pitchFamily="34" charset="0"/>
                <a:ea typeface="Libre Franklin" pitchFamily="34" charset="-122"/>
                <a:cs typeface="Libre Franklin" pitchFamily="34" charset="-120"/>
              </a:rPr>
              <a:t>Quince personas detrás y de tres a ocho segundos para reaccionar. Pierde quince minutos en la taquilla.</a:t>
            </a:r>
            <a:endParaRPr lang="en-US" sz="1600" dirty="0"/>
          </a:p>
        </p:txBody>
      </p:sp>
      <p:sp>
        <p:nvSpPr>
          <p:cNvPr id="12" name="Text 10"/>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4A5568"/>
                </a:solidFill>
                <a:latin typeface="Libre Franklin" pitchFamily="34" charset="0"/>
                <a:ea typeface="Libre Franklin" pitchFamily="34" charset="-122"/>
                <a:cs typeface="Libre Franklin" pitchFamily="34" charset="-120"/>
              </a:rPr>
              <a:t>El dinero estaba, pero todavía no se podía usar.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B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3D82E"/>
                </a:solidFill>
                <a:latin typeface="Libre Franklin" pitchFamily="34" charset="0"/>
                <a:ea typeface="Libre Franklin" pitchFamily="34" charset="-122"/>
                <a:cs typeface="Libre Franklin" pitchFamily="34" charset="-120"/>
              </a:rPr>
              <a:t>EL PROBLEMA DE DISEÑO</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6F1"/>
                </a:solidFill>
                <a:latin typeface="Libre Franklin" pitchFamily="34" charset="0"/>
                <a:ea typeface="Libre Franklin" pitchFamily="34" charset="-122"/>
                <a:cs typeface="Libre Franklin" pitchFamily="34" charset="-120"/>
              </a:rPr>
              <a:t>Un mismo mensaje para dos hechos distintos</a:t>
            </a:r>
            <a:endParaRPr lang="en-US" sz="3600" dirty="0"/>
          </a:p>
        </p:txBody>
      </p:sp>
      <p:sp>
        <p:nvSpPr>
          <p:cNvPr id="4" name="Shape 2"/>
          <p:cNvSpPr/>
          <p:nvPr/>
        </p:nvSpPr>
        <p:spPr>
          <a:xfrm>
            <a:off x="819150" y="1992511"/>
            <a:ext cx="4714180" cy="1450280"/>
          </a:xfrm>
          <a:prstGeom prst="roundRect">
            <a:avLst>
              <a:gd name="adj" fmla="val 8319"/>
            </a:avLst>
          </a:prstGeom>
          <a:noFill/>
          <a:ln w="12700">
            <a:solidFill>
              <a:srgbClr val="4A5A80"/>
            </a:solidFill>
            <a:prstDash val="solid"/>
          </a:ln>
        </p:spPr>
      </p:sp>
      <p:sp>
        <p:nvSpPr>
          <p:cNvPr id="5" name="Text 3"/>
          <p:cNvSpPr/>
          <p:nvPr/>
        </p:nvSpPr>
        <p:spPr>
          <a:xfrm>
            <a:off x="1079500" y="2252861"/>
            <a:ext cx="431928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FC8DA"/>
                </a:solidFill>
                <a:latin typeface="Libre Franklin" pitchFamily="34" charset="0"/>
                <a:ea typeface="Libre Franklin" pitchFamily="34" charset="-122"/>
                <a:cs typeface="Libre Franklin" pitchFamily="34" charset="-120"/>
              </a:rPr>
              <a:t>LA APP CONFIRMA</a:t>
            </a:r>
            <a:endParaRPr lang="en-US" sz="1200" dirty="0"/>
          </a:p>
        </p:txBody>
      </p:sp>
      <p:sp>
        <p:nvSpPr>
          <p:cNvPr id="6" name="Text 4"/>
          <p:cNvSpPr/>
          <p:nvPr/>
        </p:nvSpPr>
        <p:spPr>
          <a:xfrm>
            <a:off x="1079500" y="2542381"/>
            <a:ext cx="4319285"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5F6F1"/>
                </a:solidFill>
                <a:latin typeface="Libre Franklin" pitchFamily="34" charset="0"/>
                <a:ea typeface="Libre Franklin" pitchFamily="34" charset="-122"/>
                <a:cs typeface="Libre Franklin" pitchFamily="34" charset="-120"/>
              </a:rPr>
              <a:t>un pago</a:t>
            </a:r>
            <a:endParaRPr lang="en-US" sz="3600" dirty="0"/>
          </a:p>
        </p:txBody>
      </p:sp>
      <p:sp>
        <p:nvSpPr>
          <p:cNvPr id="7" name="Text 5"/>
          <p:cNvSpPr/>
          <p:nvPr/>
        </p:nvSpPr>
        <p:spPr>
          <a:xfrm>
            <a:off x="5844480" y="2184202"/>
            <a:ext cx="603647" cy="1092200"/>
          </a:xfrm>
          <a:prstGeom prst="rect">
            <a:avLst/>
          </a:prstGeom>
          <a:noFill/>
          <a:ln/>
        </p:spPr>
        <p:txBody>
          <a:bodyPr wrap="square" lIns="0" tIns="0" rIns="0" bIns="0" rtlCol="0" anchor="t">
            <a:normAutofit/>
          </a:bodyPr>
          <a:lstStyle/>
          <a:p>
            <a:pPr algn="l" indent="0" marL="0">
              <a:lnSpc>
                <a:spcPts val="8400"/>
              </a:lnSpc>
              <a:buNone/>
            </a:pPr>
            <a:r>
              <a:rPr lang="en-US" sz="6000" b="1" dirty="0">
                <a:solidFill>
                  <a:srgbClr val="C3D82E"/>
                </a:solidFill>
                <a:latin typeface="Libre Franklin" pitchFamily="34" charset="0"/>
                <a:ea typeface="Libre Franklin" pitchFamily="34" charset="-122"/>
                <a:cs typeface="Libre Franklin" pitchFamily="34" charset="-120"/>
              </a:rPr>
              <a:t>≠</a:t>
            </a:r>
            <a:endParaRPr lang="en-US" sz="6000" dirty="0"/>
          </a:p>
        </p:txBody>
      </p:sp>
      <p:sp>
        <p:nvSpPr>
          <p:cNvPr id="8" name="Shape 6"/>
          <p:cNvSpPr/>
          <p:nvPr/>
        </p:nvSpPr>
        <p:spPr>
          <a:xfrm>
            <a:off x="6658670" y="1992511"/>
            <a:ext cx="4714180" cy="1450280"/>
          </a:xfrm>
          <a:prstGeom prst="roundRect">
            <a:avLst>
              <a:gd name="adj" fmla="val 8319"/>
            </a:avLst>
          </a:prstGeom>
          <a:noFill/>
          <a:ln w="12700">
            <a:solidFill>
              <a:srgbClr val="4A5A80"/>
            </a:solidFill>
            <a:prstDash val="solid"/>
          </a:ln>
        </p:spPr>
      </p:sp>
      <p:sp>
        <p:nvSpPr>
          <p:cNvPr id="9" name="Text 7"/>
          <p:cNvSpPr/>
          <p:nvPr/>
        </p:nvSpPr>
        <p:spPr>
          <a:xfrm>
            <a:off x="6919020" y="2252861"/>
            <a:ext cx="431928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FC8DA"/>
                </a:solidFill>
                <a:latin typeface="Libre Franklin" pitchFamily="34" charset="0"/>
                <a:ea typeface="Libre Franklin" pitchFamily="34" charset="-122"/>
                <a:cs typeface="Libre Franklin" pitchFamily="34" charset="-120"/>
              </a:rPr>
              <a:t>EL USUARIO LEE</a:t>
            </a:r>
            <a:endParaRPr lang="en-US" sz="1200" dirty="0"/>
          </a:p>
        </p:txBody>
      </p:sp>
      <p:sp>
        <p:nvSpPr>
          <p:cNvPr id="10" name="Text 8"/>
          <p:cNvSpPr/>
          <p:nvPr/>
        </p:nvSpPr>
        <p:spPr>
          <a:xfrm>
            <a:off x="6919020" y="2542381"/>
            <a:ext cx="4319285" cy="665460"/>
          </a:xfrm>
          <a:prstGeom prst="rect">
            <a:avLst/>
          </a:prstGeom>
          <a:noFill/>
          <a:ln/>
        </p:spPr>
        <p:txBody>
          <a:bodyPr wrap="square" lIns="0" tIns="0" rIns="0" bIns="0" rtlCol="0" anchor="t">
            <a:normAutofit/>
          </a:bodyPr>
          <a:lstStyle/>
          <a:p>
            <a:pPr algn="l" indent="0" marL="0">
              <a:lnSpc>
                <a:spcPts val="5040"/>
              </a:lnSpc>
              <a:buNone/>
            </a:pPr>
            <a:r>
              <a:rPr lang="en-US" sz="3600" b="1" dirty="0">
                <a:solidFill>
                  <a:srgbClr val="F5F6F1"/>
                </a:solidFill>
                <a:latin typeface="Libre Franklin" pitchFamily="34" charset="0"/>
                <a:ea typeface="Libre Franklin" pitchFamily="34" charset="-122"/>
                <a:cs typeface="Libre Franklin" pitchFamily="34" charset="-120"/>
              </a:rPr>
              <a:t>una disponibilidad</a:t>
            </a:r>
            <a:endParaRPr lang="en-US" sz="3600" dirty="0"/>
          </a:p>
        </p:txBody>
      </p:sp>
      <p:sp>
        <p:nvSpPr>
          <p:cNvPr id="11" name="Text 9"/>
          <p:cNvSpPr/>
          <p:nvPr/>
        </p:nvSpPr>
        <p:spPr>
          <a:xfrm>
            <a:off x="812800" y="3804741"/>
            <a:ext cx="2747010" cy="787400"/>
          </a:xfrm>
          <a:prstGeom prst="rect">
            <a:avLst/>
          </a:prstGeom>
          <a:noFill/>
          <a:ln/>
        </p:spPr>
        <p:txBody>
          <a:bodyPr wrap="square" lIns="0" tIns="0" rIns="0" bIns="0" rtlCol="0" anchor="t">
            <a:normAutofit/>
          </a:bodyPr>
          <a:lstStyle/>
          <a:p>
            <a:pPr algn="l" indent="0" marL="0">
              <a:lnSpc>
                <a:spcPts val="6000"/>
              </a:lnSpc>
              <a:buNone/>
            </a:pPr>
            <a:r>
              <a:rPr lang="en-US" sz="6000" b="1" dirty="0">
                <a:solidFill>
                  <a:srgbClr val="C3D82E"/>
                </a:solidFill>
                <a:latin typeface="Libre Franklin" pitchFamily="34" charset="0"/>
                <a:ea typeface="Libre Franklin" pitchFamily="34" charset="-122"/>
                <a:cs typeface="Libre Franklin" pitchFamily="34" charset="-120"/>
              </a:rPr>
              <a:t>4 de 4</a:t>
            </a:r>
            <a:endParaRPr lang="en-US" sz="6000" dirty="0"/>
          </a:p>
        </p:txBody>
      </p:sp>
      <p:sp>
        <p:nvSpPr>
          <p:cNvPr id="12" name="Text 10"/>
          <p:cNvSpPr/>
          <p:nvPr/>
        </p:nvSpPr>
        <p:spPr>
          <a:xfrm>
            <a:off x="812800" y="4617541"/>
            <a:ext cx="274701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FC8DA"/>
                </a:solidFill>
                <a:latin typeface="Libre Franklin" pitchFamily="34" charset="0"/>
                <a:ea typeface="Libre Franklin" pitchFamily="34" charset="-122"/>
                <a:cs typeface="Libre Franklin" pitchFamily="34" charset="-120"/>
              </a:rPr>
              <a:t>participantes de la investigación tomaron el pago como cierre</a:t>
            </a:r>
            <a:endParaRPr lang="en-US" sz="1200" dirty="0"/>
          </a:p>
        </p:txBody>
      </p:sp>
      <p:sp>
        <p:nvSpPr>
          <p:cNvPr id="13" name="Text 11"/>
          <p:cNvSpPr/>
          <p:nvPr/>
        </p:nvSpPr>
        <p:spPr>
          <a:xfrm>
            <a:off x="3784600" y="3804741"/>
            <a:ext cx="7822438" cy="751681"/>
          </a:xfrm>
          <a:prstGeom prst="rect">
            <a:avLst/>
          </a:prstGeom>
          <a:noFill/>
          <a:ln/>
        </p:spPr>
        <p:txBody>
          <a:bodyPr wrap="square" lIns="0" tIns="0" rIns="0" bIns="0" rtlCol="0" anchor="t">
            <a:normAutofit/>
          </a:bodyPr>
          <a:lstStyle/>
          <a:p>
            <a:pPr algn="l" indent="0" marL="0">
              <a:lnSpc>
                <a:spcPts val="2860"/>
              </a:lnSpc>
              <a:buNone/>
            </a:pPr>
            <a:r>
              <a:rPr lang="en-US" sz="2200" i="1" dirty="0">
                <a:solidFill>
                  <a:srgbClr val="F5F6F1"/>
                </a:solidFill>
                <a:latin typeface="Libre Franklin" pitchFamily="34" charset="0"/>
                <a:ea typeface="Libre Franklin" pitchFamily="34" charset="-122"/>
                <a:cs typeface="Libre Franklin" pitchFamily="34" charset="-120"/>
              </a:rPr>
              <a:t>«Pensé que con eso bastaba.»</a:t>
            </a:r>
            <a:endParaRPr lang="en-US" sz="2200" dirty="0"/>
          </a:p>
          <a:p>
            <a:pPr algn="l" indent="0" marL="0">
              <a:lnSpc>
                <a:spcPts val="2860"/>
              </a:lnSpc>
              <a:buNone/>
            </a:pPr>
            <a:r>
              <a:rPr lang="en-US" sz="2200" i="1" dirty="0">
                <a:solidFill>
                  <a:srgbClr val="BFC8DA"/>
                </a:solidFill>
                <a:latin typeface="Libre Franklin" pitchFamily="34" charset="0"/>
                <a:ea typeface="Libre Franklin" pitchFamily="34" charset="-122"/>
                <a:cs typeface="Libre Franklin" pitchFamily="34" charset="-120"/>
              </a:rPr>
              <a:t>Yeimy, usuaria frecuente</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3FA0"/>
                </a:solidFill>
                <a:latin typeface="Libre Franklin" pitchFamily="34" charset="0"/>
                <a:ea typeface="Libre Franklin" pitchFamily="34" charset="-122"/>
                <a:cs typeface="Libre Franklin" pitchFamily="34" charset="-120"/>
              </a:rPr>
              <a:t>USUARIO Y CONTEXTO DE USO</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D"/>
                </a:solidFill>
                <a:latin typeface="Libre Franklin" pitchFamily="34" charset="0"/>
                <a:ea typeface="Libre Franklin" pitchFamily="34" charset="-122"/>
                <a:cs typeface="Libre Franklin" pitchFamily="34" charset="-120"/>
              </a:rPr>
              <a:t>Yeimy, 34 años, y dos momentos opuestos</a:t>
            </a:r>
            <a:endParaRPr lang="en-US" sz="3600" dirty="0"/>
          </a:p>
        </p:txBody>
      </p:sp>
      <p:sp>
        <p:nvSpPr>
          <p:cNvPr id="4" name="Shape 2"/>
          <p:cNvSpPr/>
          <p:nvPr/>
        </p:nvSpPr>
        <p:spPr>
          <a:xfrm>
            <a:off x="812800" y="1935361"/>
            <a:ext cx="3378200" cy="3520579"/>
          </a:xfrm>
          <a:prstGeom prst="roundRect">
            <a:avLst>
              <a:gd name="adj" fmla="val 3759"/>
            </a:avLst>
          </a:prstGeom>
          <a:solidFill>
            <a:srgbClr val="0E1B3D"/>
          </a:solidFill>
          <a:ln/>
        </p:spPr>
      </p:sp>
      <p:sp>
        <p:nvSpPr>
          <p:cNvPr id="5" name="Text 3"/>
          <p:cNvSpPr/>
          <p:nvPr/>
        </p:nvSpPr>
        <p:spPr>
          <a:xfrm>
            <a:off x="1066800" y="2189361"/>
            <a:ext cx="29563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3D82E"/>
                </a:solidFill>
                <a:latin typeface="Libre Franklin" pitchFamily="34" charset="0"/>
                <a:ea typeface="Libre Franklin" pitchFamily="34" charset="-122"/>
                <a:cs typeface="Libre Franklin" pitchFamily="34" charset="-120"/>
              </a:rPr>
              <a:t>La usuaria</a:t>
            </a:r>
            <a:endParaRPr lang="en-US" sz="1600" dirty="0"/>
          </a:p>
        </p:txBody>
      </p:sp>
      <p:sp>
        <p:nvSpPr>
          <p:cNvPr id="6" name="Text 4"/>
          <p:cNvSpPr/>
          <p:nvPr/>
        </p:nvSpPr>
        <p:spPr>
          <a:xfrm>
            <a:off x="1066800" y="2534741"/>
            <a:ext cx="2956306"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5F6F1"/>
                </a:solidFill>
                <a:latin typeface="Libre Franklin" pitchFamily="34" charset="0"/>
                <a:ea typeface="Libre Franklin" pitchFamily="34" charset="-122"/>
                <a:cs typeface="Libre Franklin" pitchFamily="34" charset="-120"/>
              </a:rPr>
              <a:t>Auxiliar de farmacia en Bosa. Turno fijo de 6 a. m., sin margen de tiempo y con pocos datos móviles.</a:t>
            </a:r>
            <a:endParaRPr lang="en-US" sz="1400" dirty="0"/>
          </a:p>
        </p:txBody>
      </p:sp>
      <p:sp>
        <p:nvSpPr>
          <p:cNvPr id="7" name="Text 5"/>
          <p:cNvSpPr/>
          <p:nvPr/>
        </p:nvSpPr>
        <p:spPr>
          <a:xfrm>
            <a:off x="1066800" y="3409652"/>
            <a:ext cx="2956306"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FC8DA"/>
                </a:solidFill>
                <a:latin typeface="Libre Franklin" pitchFamily="34" charset="0"/>
                <a:ea typeface="Libre Franklin" pitchFamily="34" charset="-122"/>
                <a:cs typeface="Libre Franklin" pitchFamily="34" charset="-120"/>
              </a:rPr>
              <a:t>Segmentos críticos: adultos mayores y usuarios esporádicos.</a:t>
            </a:r>
            <a:endParaRPr lang="en-US" sz="1400" dirty="0"/>
          </a:p>
        </p:txBody>
      </p:sp>
      <p:sp>
        <p:nvSpPr>
          <p:cNvPr id="8" name="Shape 6"/>
          <p:cNvSpPr/>
          <p:nvPr/>
        </p:nvSpPr>
        <p:spPr>
          <a:xfrm>
            <a:off x="4397375" y="1938536"/>
            <a:ext cx="3384550" cy="3514229"/>
          </a:xfrm>
          <a:prstGeom prst="roundRect">
            <a:avLst>
              <a:gd name="adj" fmla="val 3659"/>
            </a:avLst>
          </a:prstGeom>
          <a:solidFill>
            <a:srgbClr val="FFFFFF"/>
          </a:solidFill>
          <a:ln w="6350">
            <a:solidFill>
              <a:srgbClr val="DADDD4"/>
            </a:solidFill>
            <a:prstDash val="solid"/>
          </a:ln>
        </p:spPr>
      </p:sp>
      <p:sp>
        <p:nvSpPr>
          <p:cNvPr id="9" name="Text 7"/>
          <p:cNvSpPr/>
          <p:nvPr/>
        </p:nvSpPr>
        <p:spPr>
          <a:xfrm>
            <a:off x="4654550" y="2195711"/>
            <a:ext cx="29563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Momento 1 · La recarga</a:t>
            </a:r>
            <a:endParaRPr lang="en-US" sz="1600" dirty="0"/>
          </a:p>
        </p:txBody>
      </p:sp>
      <p:sp>
        <p:nvSpPr>
          <p:cNvPr id="10" name="Text 8"/>
          <p:cNvSpPr/>
          <p:nvPr/>
        </p:nvSpPr>
        <p:spPr>
          <a:xfrm>
            <a:off x="4654550" y="2541091"/>
            <a:ext cx="2956306"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Libre Franklin" pitchFamily="34" charset="0"/>
                <a:ea typeface="Libre Franklin" pitchFamily="34" charset="-122"/>
                <a:cs typeface="Libre Franklin" pitchFamily="34" charset="-120"/>
              </a:rPr>
              <a:t>En casa, sentada y con calma. Conexión estable. Baja tensión.</a:t>
            </a:r>
            <a:endParaRPr lang="en-US" sz="1400" dirty="0"/>
          </a:p>
        </p:txBody>
      </p:sp>
      <p:sp>
        <p:nvSpPr>
          <p:cNvPr id="11" name="Shape 9"/>
          <p:cNvSpPr/>
          <p:nvPr/>
        </p:nvSpPr>
        <p:spPr>
          <a:xfrm>
            <a:off x="7991475" y="1938536"/>
            <a:ext cx="3384550" cy="3514229"/>
          </a:xfrm>
          <a:prstGeom prst="roundRect">
            <a:avLst>
              <a:gd name="adj" fmla="val 3659"/>
            </a:avLst>
          </a:prstGeom>
          <a:solidFill>
            <a:srgbClr val="FFFFFF"/>
          </a:solidFill>
          <a:ln w="6350">
            <a:solidFill>
              <a:srgbClr val="DADDD4"/>
            </a:solidFill>
            <a:prstDash val="solid"/>
          </a:ln>
        </p:spPr>
      </p:sp>
      <p:sp>
        <p:nvSpPr>
          <p:cNvPr id="12" name="Text 10"/>
          <p:cNvSpPr/>
          <p:nvPr/>
        </p:nvSpPr>
        <p:spPr>
          <a:xfrm>
            <a:off x="8248650" y="2195711"/>
            <a:ext cx="29563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Momento 2 · El ingreso</a:t>
            </a:r>
            <a:endParaRPr lang="en-US" sz="1600" dirty="0"/>
          </a:p>
        </p:txBody>
      </p:sp>
      <p:sp>
        <p:nvSpPr>
          <p:cNvPr id="13" name="Text 11"/>
          <p:cNvSpPr/>
          <p:nvPr/>
        </p:nvSpPr>
        <p:spPr>
          <a:xfrm>
            <a:off x="8248650" y="2541091"/>
            <a:ext cx="2956306"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A5568"/>
                </a:solidFill>
                <a:latin typeface="Libre Franklin" pitchFamily="34" charset="0"/>
                <a:ea typeface="Libre Franklin" pitchFamily="34" charset="-122"/>
                <a:cs typeface="Libre Franklin" pitchFamily="34" charset="-120"/>
              </a:rPr>
              <a:t>De pie, con una mano, en tres a ocho segundos. Ruido, fila detrás y señal intermitente.</a:t>
            </a:r>
            <a:endParaRPr lang="en-US" sz="1400" dirty="0"/>
          </a:p>
        </p:txBody>
      </p:sp>
      <p:sp>
        <p:nvSpPr>
          <p:cNvPr id="14" name="Text 12"/>
          <p:cNvSpPr/>
          <p:nvPr/>
        </p:nvSpPr>
        <p:spPr>
          <a:xfrm>
            <a:off x="812800" y="576074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i="1" dirty="0">
                <a:solidFill>
                  <a:srgbClr val="4A5568"/>
                </a:solidFill>
                <a:latin typeface="Libre Franklin" pitchFamily="34" charset="0"/>
                <a:ea typeface="Libre Franklin" pitchFamily="34" charset="-122"/>
                <a:cs typeface="Libre Franklin" pitchFamily="34" charset="-120"/>
              </a:rPr>
              <a:t>El problema vive entre los dos momentos, cuando nadie vuelve a abrir la app.</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3FA0"/>
                </a:solidFill>
                <a:latin typeface="Libre Franklin" pitchFamily="34" charset="0"/>
                <a:ea typeface="Libre Franklin" pitchFamily="34" charset="-122"/>
                <a:cs typeface="Libre Franklin" pitchFamily="34" charset="-120"/>
              </a:rPr>
              <a:t>LA PROPUESTA · «LISTO PARA VIAJAR»</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D"/>
                </a:solidFill>
                <a:latin typeface="Libre Franklin" pitchFamily="34" charset="0"/>
                <a:ea typeface="Libre Franklin" pitchFamily="34" charset="-122"/>
                <a:cs typeface="Libre Franklin" pitchFamily="34" charset="-120"/>
              </a:rPr>
              <a:t>Certeza antes de llegar al torniquete</a:t>
            </a:r>
            <a:endParaRPr lang="en-US" sz="3600" dirty="0"/>
          </a:p>
        </p:txBody>
      </p:sp>
      <p:sp>
        <p:nvSpPr>
          <p:cNvPr id="4" name="Shape 2"/>
          <p:cNvSpPr/>
          <p:nvPr/>
        </p:nvSpPr>
        <p:spPr>
          <a:xfrm>
            <a:off x="815975" y="1938536"/>
            <a:ext cx="5200650" cy="1972370"/>
          </a:xfrm>
          <a:prstGeom prst="roundRect">
            <a:avLst>
              <a:gd name="adj" fmla="val 6278"/>
            </a:avLst>
          </a:prstGeom>
          <a:solidFill>
            <a:srgbClr val="FFFFFF"/>
          </a:solidFill>
          <a:ln w="6350">
            <a:solidFill>
              <a:srgbClr val="DADDD4"/>
            </a:solidFill>
            <a:prstDash val="solid"/>
          </a:ln>
        </p:spPr>
      </p:sp>
      <p:sp>
        <p:nvSpPr>
          <p:cNvPr id="5" name="Text 3"/>
          <p:cNvSpPr/>
          <p:nvPr/>
        </p:nvSpPr>
        <p:spPr>
          <a:xfrm>
            <a:off x="1073150" y="2195711"/>
            <a:ext cx="289917"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D3FA0"/>
                </a:solidFill>
                <a:latin typeface="Libre Franklin" pitchFamily="34" charset="0"/>
                <a:ea typeface="Libre Franklin" pitchFamily="34" charset="-122"/>
                <a:cs typeface="Libre Franklin" pitchFamily="34" charset="-120"/>
              </a:rPr>
              <a:t>1</a:t>
            </a:r>
            <a:endParaRPr lang="en-US" sz="3600" dirty="0"/>
          </a:p>
        </p:txBody>
      </p:sp>
      <p:sp>
        <p:nvSpPr>
          <p:cNvPr id="6" name="Text 4"/>
          <p:cNvSpPr/>
          <p:nvPr/>
        </p:nvSpPr>
        <p:spPr>
          <a:xfrm>
            <a:off x="1490067" y="2195711"/>
            <a:ext cx="4397464"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Confirmación en dos estados</a:t>
            </a:r>
            <a:endParaRPr lang="en-US" sz="1600" dirty="0"/>
          </a:p>
        </p:txBody>
      </p:sp>
      <p:sp>
        <p:nvSpPr>
          <p:cNvPr id="7" name="Text 5"/>
          <p:cNvSpPr/>
          <p:nvPr/>
        </p:nvSpPr>
        <p:spPr>
          <a:xfrm>
            <a:off x="1490067" y="2490291"/>
            <a:ext cx="4397464"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Libre Franklin" pitchFamily="34" charset="0"/>
                <a:ea typeface="Libre Franklin" pitchFamily="34" charset="-122"/>
                <a:cs typeface="Libre Franklin" pitchFamily="34" charset="-120"/>
              </a:rPr>
              <a:t>Pago recibido y saldo disponible, por separado.</a:t>
            </a:r>
            <a:endParaRPr lang="en-US" sz="1400" dirty="0"/>
          </a:p>
        </p:txBody>
      </p:sp>
      <p:sp>
        <p:nvSpPr>
          <p:cNvPr id="8" name="Shape 6"/>
          <p:cNvSpPr/>
          <p:nvPr/>
        </p:nvSpPr>
        <p:spPr>
          <a:xfrm>
            <a:off x="6175375" y="1938536"/>
            <a:ext cx="5200650" cy="1972370"/>
          </a:xfrm>
          <a:prstGeom prst="roundRect">
            <a:avLst>
              <a:gd name="adj" fmla="val 6278"/>
            </a:avLst>
          </a:prstGeom>
          <a:solidFill>
            <a:srgbClr val="FFFFFF"/>
          </a:solidFill>
          <a:ln w="6350">
            <a:solidFill>
              <a:srgbClr val="DADDD4"/>
            </a:solidFill>
            <a:prstDash val="solid"/>
          </a:ln>
        </p:spPr>
      </p:sp>
      <p:sp>
        <p:nvSpPr>
          <p:cNvPr id="9" name="Text 7"/>
          <p:cNvSpPr/>
          <p:nvPr/>
        </p:nvSpPr>
        <p:spPr>
          <a:xfrm>
            <a:off x="6432550" y="2195711"/>
            <a:ext cx="36159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D3FA0"/>
                </a:solidFill>
                <a:latin typeface="Libre Franklin" pitchFamily="34" charset="0"/>
                <a:ea typeface="Libre Franklin" pitchFamily="34" charset="-122"/>
                <a:cs typeface="Libre Franklin" pitchFamily="34" charset="-120"/>
              </a:rPr>
              <a:t>2</a:t>
            </a:r>
            <a:endParaRPr lang="en-US" sz="3600" dirty="0"/>
          </a:p>
        </p:txBody>
      </p:sp>
      <p:sp>
        <p:nvSpPr>
          <p:cNvPr id="10" name="Text 8"/>
          <p:cNvSpPr/>
          <p:nvPr/>
        </p:nvSpPr>
        <p:spPr>
          <a:xfrm>
            <a:off x="6911677" y="2195711"/>
            <a:ext cx="4333388"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Estado siempre visible</a:t>
            </a:r>
            <a:endParaRPr lang="en-US" sz="1600" dirty="0"/>
          </a:p>
        </p:txBody>
      </p:sp>
      <p:sp>
        <p:nvSpPr>
          <p:cNvPr id="11" name="Text 9"/>
          <p:cNvSpPr/>
          <p:nvPr/>
        </p:nvSpPr>
        <p:spPr>
          <a:xfrm>
            <a:off x="6911677" y="2490291"/>
            <a:ext cx="433338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Libre Franklin" pitchFamily="34" charset="0"/>
                <a:ea typeface="Libre Franklin" pitchFamily="34" charset="-122"/>
                <a:cs typeface="Libre Franklin" pitchFamily="34" charset="-120"/>
              </a:rPr>
              <a:t>Responde de un vistazo «¿puedo viajar ahora?».</a:t>
            </a:r>
            <a:endParaRPr lang="en-US" sz="1400" dirty="0"/>
          </a:p>
        </p:txBody>
      </p:sp>
      <p:sp>
        <p:nvSpPr>
          <p:cNvPr id="12" name="Shape 10"/>
          <p:cNvSpPr/>
          <p:nvPr/>
        </p:nvSpPr>
        <p:spPr>
          <a:xfrm>
            <a:off x="815975" y="4069655"/>
            <a:ext cx="5200650" cy="1972370"/>
          </a:xfrm>
          <a:prstGeom prst="roundRect">
            <a:avLst>
              <a:gd name="adj" fmla="val 6278"/>
            </a:avLst>
          </a:prstGeom>
          <a:solidFill>
            <a:srgbClr val="FFFFFF"/>
          </a:solidFill>
          <a:ln w="6350">
            <a:solidFill>
              <a:srgbClr val="DADDD4"/>
            </a:solidFill>
            <a:prstDash val="solid"/>
          </a:ln>
        </p:spPr>
      </p:sp>
      <p:sp>
        <p:nvSpPr>
          <p:cNvPr id="13" name="Text 11"/>
          <p:cNvSpPr/>
          <p:nvPr/>
        </p:nvSpPr>
        <p:spPr>
          <a:xfrm>
            <a:off x="1073150" y="4326830"/>
            <a:ext cx="371475"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D3FA0"/>
                </a:solidFill>
                <a:latin typeface="Libre Franklin" pitchFamily="34" charset="0"/>
                <a:ea typeface="Libre Franklin" pitchFamily="34" charset="-122"/>
                <a:cs typeface="Libre Franklin" pitchFamily="34" charset="-120"/>
              </a:rPr>
              <a:t>3</a:t>
            </a:r>
            <a:endParaRPr lang="en-US" sz="3600" dirty="0"/>
          </a:p>
        </p:txBody>
      </p:sp>
      <p:sp>
        <p:nvSpPr>
          <p:cNvPr id="14" name="Text 12"/>
          <p:cNvSpPr/>
          <p:nvPr/>
        </p:nvSpPr>
        <p:spPr>
          <a:xfrm>
            <a:off x="1560513" y="4326830"/>
            <a:ext cx="432490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Aviso en el trayecto</a:t>
            </a:r>
            <a:endParaRPr lang="en-US" sz="1600" dirty="0"/>
          </a:p>
        </p:txBody>
      </p:sp>
      <p:sp>
        <p:nvSpPr>
          <p:cNvPr id="15" name="Text 13"/>
          <p:cNvSpPr/>
          <p:nvPr/>
        </p:nvSpPr>
        <p:spPr>
          <a:xfrm>
            <a:off x="1560513" y="4621411"/>
            <a:ext cx="4452938"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Libre Franklin" pitchFamily="34" charset="0"/>
                <a:ea typeface="Libre Franklin" pitchFamily="34" charset="-122"/>
                <a:cs typeface="Libre Franklin" pitchFamily="34" charset="-120"/>
              </a:rPr>
              <a:t>Cuando todavía se puede actuar, también por SMS.</a:t>
            </a:r>
            <a:endParaRPr lang="en-US" sz="1400" dirty="0"/>
          </a:p>
        </p:txBody>
      </p:sp>
      <p:sp>
        <p:nvSpPr>
          <p:cNvPr id="16" name="Shape 14"/>
          <p:cNvSpPr/>
          <p:nvPr/>
        </p:nvSpPr>
        <p:spPr>
          <a:xfrm>
            <a:off x="6175375" y="4069655"/>
            <a:ext cx="5200650" cy="1972370"/>
          </a:xfrm>
          <a:prstGeom prst="roundRect">
            <a:avLst>
              <a:gd name="adj" fmla="val 6278"/>
            </a:avLst>
          </a:prstGeom>
          <a:solidFill>
            <a:srgbClr val="FFFFFF"/>
          </a:solidFill>
          <a:ln w="6350">
            <a:solidFill>
              <a:srgbClr val="DADDD4"/>
            </a:solidFill>
            <a:prstDash val="solid"/>
          </a:ln>
        </p:spPr>
      </p:sp>
      <p:sp>
        <p:nvSpPr>
          <p:cNvPr id="17" name="Text 15"/>
          <p:cNvSpPr/>
          <p:nvPr/>
        </p:nvSpPr>
        <p:spPr>
          <a:xfrm>
            <a:off x="6432550" y="4326830"/>
            <a:ext cx="385763" cy="482600"/>
          </a:xfrm>
          <a:prstGeom prst="rect">
            <a:avLst/>
          </a:prstGeom>
          <a:noFill/>
          <a:ln/>
        </p:spPr>
        <p:txBody>
          <a:bodyPr wrap="square" lIns="0" tIns="0" rIns="0" bIns="0" rtlCol="0" anchor="t">
            <a:normAutofit/>
          </a:bodyPr>
          <a:lstStyle/>
          <a:p>
            <a:pPr algn="l" indent="0" marL="0">
              <a:lnSpc>
                <a:spcPts val="3600"/>
              </a:lnSpc>
              <a:buNone/>
            </a:pPr>
            <a:r>
              <a:rPr lang="en-US" sz="3600" b="1" dirty="0">
                <a:solidFill>
                  <a:srgbClr val="1D3FA0"/>
                </a:solidFill>
                <a:latin typeface="Libre Franklin" pitchFamily="34" charset="0"/>
                <a:ea typeface="Libre Franklin" pitchFamily="34" charset="-122"/>
                <a:cs typeface="Libre Franklin" pitchFamily="34" charset="-120"/>
              </a:rPr>
              <a:t>4</a:t>
            </a:r>
            <a:endParaRPr lang="en-US" sz="3600" dirty="0"/>
          </a:p>
        </p:txBody>
      </p:sp>
      <p:sp>
        <p:nvSpPr>
          <p:cNvPr id="18" name="Text 16"/>
          <p:cNvSpPr/>
          <p:nvPr/>
        </p:nvSpPr>
        <p:spPr>
          <a:xfrm>
            <a:off x="6931819" y="4326830"/>
            <a:ext cx="4312642"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Ruta «Me rechazaron»</a:t>
            </a:r>
            <a:endParaRPr lang="en-US" sz="1600" dirty="0"/>
          </a:p>
        </p:txBody>
      </p:sp>
      <p:sp>
        <p:nvSpPr>
          <p:cNvPr id="19" name="Text 17"/>
          <p:cNvSpPr/>
          <p:nvPr/>
        </p:nvSpPr>
        <p:spPr>
          <a:xfrm>
            <a:off x="6931819" y="4621411"/>
            <a:ext cx="431264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68"/>
                </a:solidFill>
                <a:latin typeface="Libre Franklin" pitchFamily="34" charset="0"/>
                <a:ea typeface="Libre Franklin" pitchFamily="34" charset="-122"/>
                <a:cs typeface="Libre Franklin" pitchFamily="34" charset="-120"/>
              </a:rPr>
              <a:t>Resolver en un toque, sin pedir ayuda.</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9EC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3FA0"/>
                </a:solidFill>
                <a:latin typeface="Libre Franklin" pitchFamily="34" charset="0"/>
                <a:ea typeface="Libre Franklin" pitchFamily="34" charset="-122"/>
                <a:cs typeface="Libre Franklin" pitchFamily="34" charset="-120"/>
              </a:rPr>
              <a:t>CÓMO EVALUAMOS LA VERSIÓN 1</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D"/>
                </a:solidFill>
                <a:latin typeface="Libre Franklin" pitchFamily="34" charset="0"/>
                <a:ea typeface="Libre Franklin" pitchFamily="34" charset="-122"/>
                <a:cs typeface="Libre Franklin" pitchFamily="34" charset="-120"/>
              </a:rPr>
              <a:t>Tres métodos, tres tareas, un criterio claro</a:t>
            </a:r>
            <a:endParaRPr lang="en-US" sz="3600" dirty="0"/>
          </a:p>
        </p:txBody>
      </p:sp>
      <p:sp>
        <p:nvSpPr>
          <p:cNvPr id="4" name="Shape 2"/>
          <p:cNvSpPr/>
          <p:nvPr/>
        </p:nvSpPr>
        <p:spPr>
          <a:xfrm>
            <a:off x="812800" y="1935361"/>
            <a:ext cx="2527300" cy="4109839"/>
          </a:xfrm>
          <a:prstGeom prst="roundRect">
            <a:avLst>
              <a:gd name="adj" fmla="val 5025"/>
            </a:avLst>
          </a:prstGeom>
          <a:solidFill>
            <a:srgbClr val="FFFFFF"/>
          </a:solidFill>
          <a:ln/>
        </p:spPr>
      </p:sp>
      <p:pic>
        <p:nvPicPr>
          <p:cNvPr id="5" name="Image 0" descr="Users">    </p:cNvPr>
          <p:cNvPicPr>
            <a:picLocks noChangeAspect="1"/>
          </p:cNvPicPr>
          <p:nvPr/>
        </p:nvPicPr>
        <p:blipFill>
          <a:blip r:embed="rId1"/>
          <a:srcRect l="0" r="0" t="0" b="0"/>
          <a:stretch/>
        </p:blipFill>
        <p:spPr>
          <a:xfrm>
            <a:off x="1041400" y="2163961"/>
            <a:ext cx="304800" cy="304800"/>
          </a:xfrm>
          <a:prstGeom prst="rect">
            <a:avLst/>
          </a:prstGeom>
        </p:spPr>
      </p:pic>
      <p:sp>
        <p:nvSpPr>
          <p:cNvPr id="6" name="Text 3"/>
          <p:cNvSpPr/>
          <p:nvPr/>
        </p:nvSpPr>
        <p:spPr>
          <a:xfrm>
            <a:off x="1041400" y="2570361"/>
            <a:ext cx="21322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Participantes</a:t>
            </a:r>
            <a:endParaRPr lang="en-US" sz="1600" dirty="0"/>
          </a:p>
        </p:txBody>
      </p:sp>
      <p:sp>
        <p:nvSpPr>
          <p:cNvPr id="7" name="Text 4"/>
          <p:cNvSpPr/>
          <p:nvPr/>
        </p:nvSpPr>
        <p:spPr>
          <a:xfrm>
            <a:off x="1041400" y="2915741"/>
            <a:ext cx="213220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Libre Franklin" pitchFamily="34" charset="0"/>
                <a:ea typeface="Libre Franklin" pitchFamily="34" charset="-122"/>
                <a:cs typeface="Libre Franklin" pitchFamily="34" charset="-120"/>
              </a:rPr>
              <a:t>Equipo: recorrido cognitivo y revisión heurística.</a:t>
            </a:r>
            <a:endParaRPr lang="en-US" sz="1200" dirty="0"/>
          </a:p>
        </p:txBody>
      </p:sp>
      <p:sp>
        <p:nvSpPr>
          <p:cNvPr id="8" name="Text 5"/>
          <p:cNvSpPr/>
          <p:nvPr/>
        </p:nvSpPr>
        <p:spPr>
          <a:xfrm>
            <a:off x="1041400" y="3459262"/>
            <a:ext cx="2132203"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Libre Franklin" pitchFamily="34" charset="0"/>
                <a:ea typeface="Libre Franklin" pitchFamily="34" charset="-122"/>
                <a:cs typeface="Libre Franklin" pitchFamily="34" charset="-120"/>
              </a:rPr>
              <a:t>4 de octubre: tres usuarias diarias de TransMilenio, una adulta mayor.</a:t>
            </a:r>
            <a:endParaRPr lang="en-US" sz="1200" dirty="0"/>
          </a:p>
        </p:txBody>
      </p:sp>
      <p:sp>
        <p:nvSpPr>
          <p:cNvPr id="9" name="Shape 6"/>
          <p:cNvSpPr/>
          <p:nvPr/>
        </p:nvSpPr>
        <p:spPr>
          <a:xfrm>
            <a:off x="3492500" y="1935361"/>
            <a:ext cx="2527300" cy="4109839"/>
          </a:xfrm>
          <a:prstGeom prst="roundRect">
            <a:avLst>
              <a:gd name="adj" fmla="val 5025"/>
            </a:avLst>
          </a:prstGeom>
          <a:solidFill>
            <a:srgbClr val="FFFFFF"/>
          </a:solidFill>
          <a:ln/>
        </p:spPr>
      </p:sp>
      <p:pic>
        <p:nvPicPr>
          <p:cNvPr id="10" name="Image 1" descr="Play">    </p:cNvPr>
          <p:cNvPicPr>
            <a:picLocks noChangeAspect="1"/>
          </p:cNvPicPr>
          <p:nvPr/>
        </p:nvPicPr>
        <p:blipFill>
          <a:blip r:embed="rId2"/>
          <a:srcRect l="0" r="0" t="0" b="0"/>
          <a:stretch/>
        </p:blipFill>
        <p:spPr>
          <a:xfrm>
            <a:off x="3721100" y="2163961"/>
            <a:ext cx="304800" cy="304800"/>
          </a:xfrm>
          <a:prstGeom prst="rect">
            <a:avLst/>
          </a:prstGeom>
        </p:spPr>
      </p:pic>
      <p:sp>
        <p:nvSpPr>
          <p:cNvPr id="11" name="Text 7"/>
          <p:cNvSpPr/>
          <p:nvPr/>
        </p:nvSpPr>
        <p:spPr>
          <a:xfrm>
            <a:off x="3721100" y="2570361"/>
            <a:ext cx="21322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Tareas</a:t>
            </a:r>
            <a:endParaRPr lang="en-US" sz="1600" dirty="0"/>
          </a:p>
        </p:txBody>
      </p:sp>
      <p:sp>
        <p:nvSpPr>
          <p:cNvPr id="12" name="Text 8"/>
          <p:cNvSpPr/>
          <p:nvPr/>
        </p:nvSpPr>
        <p:spPr>
          <a:xfrm>
            <a:off x="3721100" y="2915741"/>
            <a:ext cx="213220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Libre Franklin" pitchFamily="34" charset="0"/>
                <a:ea typeface="Libre Franklin" pitchFamily="34" charset="-122"/>
                <a:cs typeface="Libre Franklin" pitchFamily="34" charset="-120"/>
              </a:rPr>
              <a:t>1. Recargar y dejar el saldo listo.</a:t>
            </a:r>
            <a:endParaRPr lang="en-US" sz="1200" dirty="0"/>
          </a:p>
        </p:txBody>
      </p:sp>
      <p:sp>
        <p:nvSpPr>
          <p:cNvPr id="13" name="Text 9"/>
          <p:cNvSpPr/>
          <p:nvPr/>
        </p:nvSpPr>
        <p:spPr>
          <a:xfrm>
            <a:off x="3721100" y="3459262"/>
            <a:ext cx="213220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Libre Franklin" pitchFamily="34" charset="0"/>
                <a:ea typeface="Libre Franklin" pitchFamily="34" charset="-122"/>
                <a:cs typeface="Libre Franklin" pitchFamily="34" charset="-120"/>
              </a:rPr>
              <a:t>2. Verificar antes del torniquete.</a:t>
            </a:r>
            <a:endParaRPr lang="en-US" sz="1200" dirty="0"/>
          </a:p>
        </p:txBody>
      </p:sp>
      <p:sp>
        <p:nvSpPr>
          <p:cNvPr id="14" name="Text 10"/>
          <p:cNvSpPr/>
          <p:nvPr/>
        </p:nvSpPr>
        <p:spPr>
          <a:xfrm>
            <a:off x="3721100" y="4002782"/>
            <a:ext cx="213220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Libre Franklin" pitchFamily="34" charset="0"/>
                <a:ea typeface="Libre Franklin" pitchFamily="34" charset="-122"/>
                <a:cs typeface="Libre Franklin" pitchFamily="34" charset="-120"/>
              </a:rPr>
              <a:t>3. Recuperarse de un rechazo.</a:t>
            </a:r>
            <a:endParaRPr lang="en-US" sz="1200" dirty="0"/>
          </a:p>
        </p:txBody>
      </p:sp>
      <p:sp>
        <p:nvSpPr>
          <p:cNvPr id="15" name="Shape 11"/>
          <p:cNvSpPr/>
          <p:nvPr/>
        </p:nvSpPr>
        <p:spPr>
          <a:xfrm>
            <a:off x="6172200" y="1935361"/>
            <a:ext cx="2527300" cy="4109839"/>
          </a:xfrm>
          <a:prstGeom prst="roundRect">
            <a:avLst>
              <a:gd name="adj" fmla="val 5025"/>
            </a:avLst>
          </a:prstGeom>
          <a:solidFill>
            <a:srgbClr val="FFFFFF"/>
          </a:solidFill>
          <a:ln/>
        </p:spPr>
      </p:sp>
      <p:pic>
        <p:nvPicPr>
          <p:cNvPr id="16" name="Image 2" descr="CheckCircle">    </p:cNvPr>
          <p:cNvPicPr>
            <a:picLocks noChangeAspect="1"/>
          </p:cNvPicPr>
          <p:nvPr/>
        </p:nvPicPr>
        <p:blipFill>
          <a:blip r:embed="rId3"/>
          <a:srcRect l="0" r="0" t="0" b="0"/>
          <a:stretch/>
        </p:blipFill>
        <p:spPr>
          <a:xfrm>
            <a:off x="6400800" y="2163961"/>
            <a:ext cx="304800" cy="304800"/>
          </a:xfrm>
          <a:prstGeom prst="rect">
            <a:avLst/>
          </a:prstGeom>
        </p:spPr>
      </p:pic>
      <p:sp>
        <p:nvSpPr>
          <p:cNvPr id="17" name="Text 12"/>
          <p:cNvSpPr/>
          <p:nvPr/>
        </p:nvSpPr>
        <p:spPr>
          <a:xfrm>
            <a:off x="6400800" y="2570361"/>
            <a:ext cx="21322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Éxito y métricas</a:t>
            </a:r>
            <a:endParaRPr lang="en-US" sz="1600" dirty="0"/>
          </a:p>
        </p:txBody>
      </p:sp>
      <p:sp>
        <p:nvSpPr>
          <p:cNvPr id="18" name="Text 13"/>
          <p:cNvSpPr/>
          <p:nvPr/>
        </p:nvSpPr>
        <p:spPr>
          <a:xfrm>
            <a:off x="6400800" y="2915741"/>
            <a:ext cx="2132203"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Libre Franklin" pitchFamily="34" charset="0"/>
                <a:ea typeface="Libre Franklin" pitchFamily="34" charset="-122"/>
                <a:cs typeface="Libre Franklin" pitchFamily="34" charset="-120"/>
              </a:rPr>
              <a:t>Sabe si puede viajar, detecta el pendiente y lo resuelve sin ayuda.</a:t>
            </a:r>
            <a:endParaRPr lang="en-US" sz="1200" dirty="0"/>
          </a:p>
        </p:txBody>
      </p:sp>
      <p:sp>
        <p:nvSpPr>
          <p:cNvPr id="19" name="Text 14"/>
          <p:cNvSpPr/>
          <p:nvPr/>
        </p:nvSpPr>
        <p:spPr>
          <a:xfrm>
            <a:off x="6400800" y="3680222"/>
            <a:ext cx="213220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Libre Franklin" pitchFamily="34" charset="0"/>
                <a:ea typeface="Libre Franklin" pitchFamily="34" charset="-122"/>
                <a:cs typeface="Libre Franklin" pitchFamily="34" charset="-120"/>
              </a:rPr>
              <a:t>Toques hasta la solución y severidad de 0 a 4 (Nielsen).</a:t>
            </a:r>
            <a:endParaRPr lang="en-US" sz="1200" dirty="0"/>
          </a:p>
        </p:txBody>
      </p:sp>
      <p:sp>
        <p:nvSpPr>
          <p:cNvPr id="20" name="Shape 15"/>
          <p:cNvSpPr/>
          <p:nvPr/>
        </p:nvSpPr>
        <p:spPr>
          <a:xfrm>
            <a:off x="8851900" y="1935361"/>
            <a:ext cx="2527300" cy="4109839"/>
          </a:xfrm>
          <a:prstGeom prst="roundRect">
            <a:avLst>
              <a:gd name="adj" fmla="val 5025"/>
            </a:avLst>
          </a:prstGeom>
          <a:solidFill>
            <a:srgbClr val="FFFFFF"/>
          </a:solidFill>
          <a:ln/>
        </p:spPr>
      </p:sp>
      <p:pic>
        <p:nvPicPr>
          <p:cNvPr id="21" name="Image 3" descr="Book">    </p:cNvPr>
          <p:cNvPicPr>
            <a:picLocks noChangeAspect="1"/>
          </p:cNvPicPr>
          <p:nvPr/>
        </p:nvPicPr>
        <p:blipFill>
          <a:blip r:embed="rId4"/>
          <a:srcRect l="0" r="0" t="0" b="0"/>
          <a:stretch/>
        </p:blipFill>
        <p:spPr>
          <a:xfrm>
            <a:off x="9080500" y="2163961"/>
            <a:ext cx="304800" cy="304800"/>
          </a:xfrm>
          <a:prstGeom prst="rect">
            <a:avLst/>
          </a:prstGeom>
        </p:spPr>
      </p:pic>
      <p:sp>
        <p:nvSpPr>
          <p:cNvPr id="22" name="Text 16"/>
          <p:cNvSpPr/>
          <p:nvPr/>
        </p:nvSpPr>
        <p:spPr>
          <a:xfrm>
            <a:off x="9080500" y="2570361"/>
            <a:ext cx="213220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Instrumentos</a:t>
            </a:r>
            <a:endParaRPr lang="en-US" sz="1600" dirty="0"/>
          </a:p>
        </p:txBody>
      </p:sp>
      <p:sp>
        <p:nvSpPr>
          <p:cNvPr id="23" name="Text 17"/>
          <p:cNvSpPr/>
          <p:nvPr/>
        </p:nvSpPr>
        <p:spPr>
          <a:xfrm>
            <a:off x="9080500" y="2915741"/>
            <a:ext cx="213220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Libre Franklin" pitchFamily="34" charset="0"/>
                <a:ea typeface="Libre Franklin" pitchFamily="34" charset="-122"/>
                <a:cs typeface="Libre Franklin" pitchFamily="34" charset="-120"/>
              </a:rPr>
              <a:t>Hoja de recorrido cognitivo por pantalla.</a:t>
            </a:r>
            <a:endParaRPr lang="en-US" sz="1200" dirty="0"/>
          </a:p>
        </p:txBody>
      </p:sp>
      <p:sp>
        <p:nvSpPr>
          <p:cNvPr id="24" name="Text 18"/>
          <p:cNvSpPr/>
          <p:nvPr/>
        </p:nvSpPr>
        <p:spPr>
          <a:xfrm>
            <a:off x="9080500" y="3459262"/>
            <a:ext cx="2298700" cy="24636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Libre Franklin" pitchFamily="34" charset="0"/>
                <a:ea typeface="Libre Franklin" pitchFamily="34" charset="-122"/>
                <a:cs typeface="Libre Franklin" pitchFamily="34" charset="-120"/>
              </a:rPr>
              <a:t>Matriz de las diez heurísticas.</a:t>
            </a:r>
            <a:endParaRPr lang="en-US" sz="1200" dirty="0"/>
          </a:p>
        </p:txBody>
      </p:sp>
      <p:sp>
        <p:nvSpPr>
          <p:cNvPr id="25" name="Text 19"/>
          <p:cNvSpPr/>
          <p:nvPr/>
        </p:nvSpPr>
        <p:spPr>
          <a:xfrm>
            <a:off x="9080500" y="3781822"/>
            <a:ext cx="2132203"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4A5568"/>
                </a:solidFill>
                <a:latin typeface="Libre Franklin" pitchFamily="34" charset="0"/>
                <a:ea typeface="Libre Franklin" pitchFamily="34" charset="-122"/>
                <a:cs typeface="Libre Franklin" pitchFamily="34" charset="-120"/>
              </a:rPr>
              <a:t>Notas de la sesión con usuarias.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3FA0"/>
                </a:solidFill>
                <a:latin typeface="Libre Franklin" pitchFamily="34" charset="0"/>
                <a:ea typeface="Libre Franklin" pitchFamily="34" charset="-122"/>
                <a:cs typeface="Libre Franklin" pitchFamily="34" charset="-120"/>
              </a:rPr>
              <a:t>RESULTADOS · SEVERIDAD SEGÚN NIELSEN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D"/>
                </a:solidFill>
                <a:latin typeface="Libre Franklin" pitchFamily="34" charset="0"/>
                <a:ea typeface="Libre Franklin" pitchFamily="34" charset="-122"/>
                <a:cs typeface="Libre Franklin" pitchFamily="34" charset="-120"/>
              </a:rPr>
              <a:t>Siete problemas: dos críticos, tres graves</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10553700" cy="2874169"/>
        </p:xfrm>
        <a:graphic>
          <a:graphicData uri="http://schemas.openxmlformats.org/drawingml/2006/table">
            <a:tbl>
              <a:tblPr/>
              <a:tblGrid>
                <a:gridCol w="527685"/>
                <a:gridCol w="6121146"/>
                <a:gridCol w="2532888"/>
                <a:gridCol w="1371981"/>
              </a:tblGrid>
              <a:tr h="359271">
                <a:tc>
                  <a:txBody>
                    <a:bodyPr/>
                    <a:lstStyle/>
                    <a:p>
                      <a:pPr indent="0" marL="0">
                        <a:lnSpc>
                          <a:spcPts val="1820"/>
                        </a:lnSpc>
                        <a:buNone/>
                      </a:pPr>
                      <a:r>
                        <a:rPr lang="en-US" sz="1300" b="1" dirty="0">
                          <a:solidFill>
                            <a:srgbClr val="0E1B3D"/>
                          </a:solidFill>
                          <a:latin typeface="Libre Franklin" pitchFamily="34" charset="0"/>
                          <a:ea typeface="Libre Franklin" pitchFamily="34" charset="-122"/>
                          <a:cs typeface="Libre Franklin" pitchFamily="34" charset="-120"/>
                        </a:rPr>
                        <a:t>#</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B5B6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5B6B2"/>
                      </a:solidFill>
                      <a:prstDash val="solid"/>
                      <a:round/>
                      <a:headEnd type="none" w="med" len="med"/>
                      <a:tailEnd type="none" w="med" len="med"/>
                    </a:lnB>
                    <a:solidFill>
                      <a:srgbClr val="E3E4DF"/>
                    </a:solidFill>
                  </a:tcPr>
                </a:tc>
                <a:tc>
                  <a:txBody>
                    <a:bodyPr/>
                    <a:lstStyle/>
                    <a:p>
                      <a:pPr indent="0" marL="0">
                        <a:lnSpc>
                          <a:spcPts val="1820"/>
                        </a:lnSpc>
                        <a:buNone/>
                      </a:pPr>
                      <a:r>
                        <a:rPr lang="en-US" sz="1300" b="1" dirty="0">
                          <a:solidFill>
                            <a:srgbClr val="0E1B3D"/>
                          </a:solidFill>
                          <a:latin typeface="Libre Franklin" pitchFamily="34" charset="0"/>
                          <a:ea typeface="Libre Franklin" pitchFamily="34" charset="-122"/>
                          <a:cs typeface="Libre Franklin" pitchFamily="34" charset="-120"/>
                        </a:rPr>
                        <a:t>Problema en la versión 1</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5B6B2"/>
                      </a:solidFill>
                      <a:prstDash val="solid"/>
                      <a:round/>
                      <a:headEnd type="none" w="med" len="med"/>
                      <a:tailEnd type="none" w="med" len="med"/>
                    </a:lnL>
                    <a:lnR w="12700" cap="flat" cmpd="sng" algn="ctr">
                      <a:solidFill>
                        <a:srgbClr val="B5B6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5B6B2"/>
                      </a:solidFill>
                      <a:prstDash val="solid"/>
                      <a:round/>
                      <a:headEnd type="none" w="med" len="med"/>
                      <a:tailEnd type="none" w="med" len="med"/>
                    </a:lnB>
                    <a:solidFill>
                      <a:srgbClr val="E3E4DF"/>
                    </a:solidFill>
                  </a:tcPr>
                </a:tc>
                <a:tc>
                  <a:txBody>
                    <a:bodyPr/>
                    <a:lstStyle/>
                    <a:p>
                      <a:pPr indent="0" marL="0">
                        <a:lnSpc>
                          <a:spcPts val="1820"/>
                        </a:lnSpc>
                        <a:buNone/>
                      </a:pPr>
                      <a:r>
                        <a:rPr lang="en-US" sz="1300" b="1" dirty="0">
                          <a:solidFill>
                            <a:srgbClr val="0E1B3D"/>
                          </a:solidFill>
                          <a:latin typeface="Libre Franklin" pitchFamily="34" charset="0"/>
                          <a:ea typeface="Libre Franklin" pitchFamily="34" charset="-122"/>
                          <a:cs typeface="Libre Franklin" pitchFamily="34" charset="-120"/>
                        </a:rPr>
                        <a:t>Evidencia</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5B6B2"/>
                      </a:solidFill>
                      <a:prstDash val="solid"/>
                      <a:round/>
                      <a:headEnd type="none" w="med" len="med"/>
                      <a:tailEnd type="none" w="med" len="med"/>
                    </a:lnL>
                    <a:lnR w="12700" cap="flat" cmpd="sng" algn="ctr">
                      <a:solidFill>
                        <a:srgbClr val="B5B6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5B6B2"/>
                      </a:solidFill>
                      <a:prstDash val="solid"/>
                      <a:round/>
                      <a:headEnd type="none" w="med" len="med"/>
                      <a:tailEnd type="none" w="med" len="med"/>
                    </a:lnB>
                    <a:solidFill>
                      <a:srgbClr val="E3E4DF"/>
                    </a:solidFill>
                  </a:tcPr>
                </a:tc>
                <a:tc>
                  <a:txBody>
                    <a:bodyPr/>
                    <a:lstStyle/>
                    <a:p>
                      <a:pPr indent="0" marL="0">
                        <a:lnSpc>
                          <a:spcPts val="1820"/>
                        </a:lnSpc>
                        <a:buNone/>
                      </a:pPr>
                      <a:r>
                        <a:rPr lang="en-US" sz="1300" b="1" dirty="0">
                          <a:solidFill>
                            <a:srgbClr val="0E1B3D"/>
                          </a:solidFill>
                          <a:latin typeface="Libre Franklin" pitchFamily="34" charset="0"/>
                          <a:ea typeface="Libre Franklin" pitchFamily="34" charset="-122"/>
                          <a:cs typeface="Libre Franklin" pitchFamily="34" charset="-120"/>
                        </a:rPr>
                        <a:t>Severidad</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5B6B2"/>
                      </a:solidFill>
                      <a:prstDash val="solid"/>
                      <a:round/>
                      <a:headEnd type="none" w="med" len="med"/>
                      <a:tailEnd type="none" w="med" len="med"/>
                    </a:lnL>
                    <a:lnR w="12700" cap="flat" cmpd="sng" algn="ctr">
                      <a:solidFill>
                        <a:srgbClr val="B5B6B2"/>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5B6B2"/>
                      </a:solidFill>
                      <a:prstDash val="solid"/>
                      <a:round/>
                      <a:headEnd type="none" w="med" len="med"/>
                      <a:tailEnd type="none" w="med" len="med"/>
                    </a:lnB>
                    <a:solidFill>
                      <a:srgbClr val="E3E4DF"/>
                    </a:solidFill>
                  </a:tcPr>
                </a:tc>
              </a:tr>
              <a:tr h="359271">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1</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B6B6"/>
                      </a:solidFill>
                      <a:prstDash val="solid"/>
                      <a:round/>
                      <a:headEnd type="none" w="med" len="med"/>
                      <a:tailEnd type="none" w="med" len="med"/>
                    </a:lnR>
                    <a:lnT w="12700" cap="flat" cmpd="sng" algn="ctr">
                      <a:solidFill>
                        <a:srgbClr val="B5B6B2"/>
                      </a:solidFill>
                      <a:prstDash val="solid"/>
                      <a:round/>
                      <a:headEnd type="none" w="med" len="med"/>
                      <a:tailEnd type="none" w="med" len="med"/>
                    </a:lnT>
                    <a:lnB w="12700" cap="flat" cmpd="sng" algn="ctr">
                      <a:solidFill>
                        <a:srgbClr val="C4B6B6"/>
                      </a:solidFill>
                      <a:prstDash val="solid"/>
                      <a:round/>
                      <a:headEnd type="none" w="med" len="med"/>
                      <a:tailEnd type="none" w="med" len="med"/>
                    </a:lnB>
                    <a:solidFill>
                      <a:srgbClr val="F6E4E4"/>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«¡Recarga exitosa!» cierra el flujo; la activación va en gris</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B6B6"/>
                      </a:solidFill>
                      <a:prstDash val="solid"/>
                      <a:round/>
                      <a:headEnd type="none" w="med" len="med"/>
                      <a:tailEnd type="none" w="med" len="med"/>
                    </a:lnL>
                    <a:lnR w="12700" cap="flat" cmpd="sng" algn="ctr">
                      <a:solidFill>
                        <a:srgbClr val="C4B6B6"/>
                      </a:solidFill>
                      <a:prstDash val="solid"/>
                      <a:round/>
                      <a:headEnd type="none" w="med" len="med"/>
                      <a:tailEnd type="none" w="med" len="med"/>
                    </a:lnR>
                    <a:lnT w="12700" cap="flat" cmpd="sng" algn="ctr">
                      <a:solidFill>
                        <a:srgbClr val="B5B6B2"/>
                      </a:solidFill>
                      <a:prstDash val="solid"/>
                      <a:round/>
                      <a:headEnd type="none" w="med" len="med"/>
                      <a:tailEnd type="none" w="med" len="med"/>
                    </a:lnT>
                    <a:lnB w="12700" cap="flat" cmpd="sng" algn="ctr">
                      <a:solidFill>
                        <a:srgbClr val="C4B6B6"/>
                      </a:solidFill>
                      <a:prstDash val="solid"/>
                      <a:round/>
                      <a:headEnd type="none" w="med" len="med"/>
                      <a:tailEnd type="none" w="med" len="med"/>
                    </a:lnB>
                    <a:solidFill>
                      <a:srgbClr val="F6E4E4"/>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Recorrido, tarea 1</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B6B6"/>
                      </a:solidFill>
                      <a:prstDash val="solid"/>
                      <a:round/>
                      <a:headEnd type="none" w="med" len="med"/>
                      <a:tailEnd type="none" w="med" len="med"/>
                    </a:lnL>
                    <a:lnR w="12700" cap="flat" cmpd="sng" algn="ctr">
                      <a:solidFill>
                        <a:srgbClr val="C4B6B6"/>
                      </a:solidFill>
                      <a:prstDash val="solid"/>
                      <a:round/>
                      <a:headEnd type="none" w="med" len="med"/>
                      <a:tailEnd type="none" w="med" len="med"/>
                    </a:lnR>
                    <a:lnT w="12700" cap="flat" cmpd="sng" algn="ctr">
                      <a:solidFill>
                        <a:srgbClr val="B5B6B2"/>
                      </a:solidFill>
                      <a:prstDash val="solid"/>
                      <a:round/>
                      <a:headEnd type="none" w="med" len="med"/>
                      <a:tailEnd type="none" w="med" len="med"/>
                    </a:lnT>
                    <a:lnB w="12700" cap="flat" cmpd="sng" algn="ctr">
                      <a:solidFill>
                        <a:srgbClr val="C4B6B6"/>
                      </a:solidFill>
                      <a:prstDash val="solid"/>
                      <a:round/>
                      <a:headEnd type="none" w="med" len="med"/>
                      <a:tailEnd type="none" w="med" len="med"/>
                    </a:lnB>
                    <a:solidFill>
                      <a:srgbClr val="F6E4E4"/>
                    </a:solidFill>
                  </a:tcPr>
                </a:tc>
                <a:tc>
                  <a:txBody>
                    <a:bodyPr/>
                    <a:lstStyle/>
                    <a:p>
                      <a:pPr indent="0" marL="0">
                        <a:lnSpc>
                          <a:spcPts val="1820"/>
                        </a:lnSpc>
                        <a:buNone/>
                      </a:pPr>
                      <a:r>
                        <a:rPr lang="en-US" sz="1300" dirty="0">
                          <a:solidFill>
                            <a:srgbClr val="A30C0C"/>
                          </a:solidFill>
                          <a:latin typeface="Libre Franklin" pitchFamily="34" charset="0"/>
                          <a:ea typeface="Libre Franklin" pitchFamily="34" charset="-122"/>
                          <a:cs typeface="Libre Franklin" pitchFamily="34" charset="-120"/>
                        </a:rPr>
                        <a:t>4 crítica</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B6B6"/>
                      </a:solidFill>
                      <a:prstDash val="solid"/>
                      <a:round/>
                      <a:headEnd type="none" w="med" len="med"/>
                      <a:tailEnd type="none" w="med" len="med"/>
                    </a:lnL>
                    <a:lnR w="12700" cap="flat" cmpd="sng" algn="ctr">
                      <a:solidFill>
                        <a:srgbClr val="C4B6B6"/>
                      </a:solidFill>
                      <a:prstDash val="solid"/>
                      <a:round/>
                      <a:headEnd type="none" w="med" len="med"/>
                      <a:tailEnd type="none" w="med" len="med"/>
                    </a:lnR>
                    <a:lnT w="12700" cap="flat" cmpd="sng" algn="ctr">
                      <a:solidFill>
                        <a:srgbClr val="B5B6B2"/>
                      </a:solidFill>
                      <a:prstDash val="solid"/>
                      <a:round/>
                      <a:headEnd type="none" w="med" len="med"/>
                      <a:tailEnd type="none" w="med" len="med"/>
                    </a:lnT>
                    <a:lnB w="12700" cap="flat" cmpd="sng" algn="ctr">
                      <a:solidFill>
                        <a:srgbClr val="C4B6B6"/>
                      </a:solidFill>
                      <a:prstDash val="solid"/>
                      <a:round/>
                      <a:headEnd type="none" w="med" len="med"/>
                      <a:tailEnd type="none" w="med" len="med"/>
                    </a:lnB>
                    <a:solidFill>
                      <a:srgbClr val="F6E4E4"/>
                    </a:solidFill>
                  </a:tcPr>
                </a:tc>
              </a:tr>
              <a:tr h="359271">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2</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B6B6"/>
                      </a:solidFill>
                      <a:prstDash val="solid"/>
                      <a:round/>
                      <a:headEnd type="none" w="med" len="med"/>
                      <a:tailEnd type="none" w="med" len="med"/>
                    </a:lnR>
                    <a:lnT w="12700" cap="flat" cmpd="sng" algn="ctr">
                      <a:solidFill>
                        <a:srgbClr val="C4B6B6"/>
                      </a:solidFill>
                      <a:prstDash val="solid"/>
                      <a:round/>
                      <a:headEnd type="none" w="med" len="med"/>
                      <a:tailEnd type="none" w="med" len="med"/>
                    </a:lnT>
                    <a:lnB w="12700" cap="flat" cmpd="sng" algn="ctr">
                      <a:solidFill>
                        <a:srgbClr val="C4B6B6"/>
                      </a:solidFill>
                      <a:prstDash val="solid"/>
                      <a:round/>
                      <a:headEnd type="none" w="med" len="med"/>
                      <a:tailEnd type="none" w="med" len="med"/>
                    </a:lnB>
                    <a:solidFill>
                      <a:srgbClr val="F6E4E4"/>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El inicio suma disponible y pendiente: $20.850</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B6B6"/>
                      </a:solidFill>
                      <a:prstDash val="solid"/>
                      <a:round/>
                      <a:headEnd type="none" w="med" len="med"/>
                      <a:tailEnd type="none" w="med" len="med"/>
                    </a:lnL>
                    <a:lnR w="12700" cap="flat" cmpd="sng" algn="ctr">
                      <a:solidFill>
                        <a:srgbClr val="C4B6B6"/>
                      </a:solidFill>
                      <a:prstDash val="solid"/>
                      <a:round/>
                      <a:headEnd type="none" w="med" len="med"/>
                      <a:tailEnd type="none" w="med" len="med"/>
                    </a:lnR>
                    <a:lnT w="12700" cap="flat" cmpd="sng" algn="ctr">
                      <a:solidFill>
                        <a:srgbClr val="C4B6B6"/>
                      </a:solidFill>
                      <a:prstDash val="solid"/>
                      <a:round/>
                      <a:headEnd type="none" w="med" len="med"/>
                      <a:tailEnd type="none" w="med" len="med"/>
                    </a:lnT>
                    <a:lnB w="12700" cap="flat" cmpd="sng" algn="ctr">
                      <a:solidFill>
                        <a:srgbClr val="C4B6B6"/>
                      </a:solidFill>
                      <a:prstDash val="solid"/>
                      <a:round/>
                      <a:headEnd type="none" w="med" len="med"/>
                      <a:tailEnd type="none" w="med" len="med"/>
                    </a:lnB>
                    <a:solidFill>
                      <a:srgbClr val="F6E4E4"/>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Nielsen 1, WCAG 1.4.1</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B6B6"/>
                      </a:solidFill>
                      <a:prstDash val="solid"/>
                      <a:round/>
                      <a:headEnd type="none" w="med" len="med"/>
                      <a:tailEnd type="none" w="med" len="med"/>
                    </a:lnL>
                    <a:lnR w="12700" cap="flat" cmpd="sng" algn="ctr">
                      <a:solidFill>
                        <a:srgbClr val="C4B6B6"/>
                      </a:solidFill>
                      <a:prstDash val="solid"/>
                      <a:round/>
                      <a:headEnd type="none" w="med" len="med"/>
                      <a:tailEnd type="none" w="med" len="med"/>
                    </a:lnR>
                    <a:lnT w="12700" cap="flat" cmpd="sng" algn="ctr">
                      <a:solidFill>
                        <a:srgbClr val="C4B6B6"/>
                      </a:solidFill>
                      <a:prstDash val="solid"/>
                      <a:round/>
                      <a:headEnd type="none" w="med" len="med"/>
                      <a:tailEnd type="none" w="med" len="med"/>
                    </a:lnT>
                    <a:lnB w="12700" cap="flat" cmpd="sng" algn="ctr">
                      <a:solidFill>
                        <a:srgbClr val="C4B6B6"/>
                      </a:solidFill>
                      <a:prstDash val="solid"/>
                      <a:round/>
                      <a:headEnd type="none" w="med" len="med"/>
                      <a:tailEnd type="none" w="med" len="med"/>
                    </a:lnB>
                    <a:solidFill>
                      <a:srgbClr val="F6E4E4"/>
                    </a:solidFill>
                  </a:tcPr>
                </a:tc>
                <a:tc>
                  <a:txBody>
                    <a:bodyPr/>
                    <a:lstStyle/>
                    <a:p>
                      <a:pPr indent="0" marL="0">
                        <a:lnSpc>
                          <a:spcPts val="1820"/>
                        </a:lnSpc>
                        <a:buNone/>
                      </a:pPr>
                      <a:r>
                        <a:rPr lang="en-US" sz="1300" dirty="0">
                          <a:solidFill>
                            <a:srgbClr val="A30C0C"/>
                          </a:solidFill>
                          <a:latin typeface="Libre Franklin" pitchFamily="34" charset="0"/>
                          <a:ea typeface="Libre Franklin" pitchFamily="34" charset="-122"/>
                          <a:cs typeface="Libre Franklin" pitchFamily="34" charset="-120"/>
                        </a:rPr>
                        <a:t>4 crítica</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B6B6"/>
                      </a:solidFill>
                      <a:prstDash val="solid"/>
                      <a:round/>
                      <a:headEnd type="none" w="med" len="med"/>
                      <a:tailEnd type="none" w="med" len="med"/>
                    </a:lnL>
                    <a:lnR w="12700" cap="flat" cmpd="sng" algn="ctr">
                      <a:solidFill>
                        <a:srgbClr val="C4B6B6"/>
                      </a:solidFill>
                      <a:prstDash val="solid"/>
                      <a:round/>
                      <a:headEnd type="none" w="med" len="med"/>
                      <a:tailEnd type="none" w="med" len="med"/>
                    </a:lnR>
                    <a:lnT w="12700" cap="flat" cmpd="sng" algn="ctr">
                      <a:solidFill>
                        <a:srgbClr val="C4B6B6"/>
                      </a:solidFill>
                      <a:prstDash val="solid"/>
                      <a:round/>
                      <a:headEnd type="none" w="med" len="med"/>
                      <a:tailEnd type="none" w="med" len="med"/>
                    </a:lnT>
                    <a:lnB w="12700" cap="flat" cmpd="sng" algn="ctr">
                      <a:solidFill>
                        <a:srgbClr val="C4B6B6"/>
                      </a:solidFill>
                      <a:prstDash val="solid"/>
                      <a:round/>
                      <a:headEnd type="none" w="med" len="med"/>
                      <a:tailEnd type="none" w="med" len="med"/>
                    </a:lnB>
                    <a:solidFill>
                      <a:srgbClr val="F6E4E4"/>
                    </a:solidFill>
                  </a:tcPr>
                </a:tc>
              </a:tr>
              <a:tr h="359271">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3</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4B6B6"/>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«Ayuda» no se asocia con un rechazo; solución a 3 toques</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5BEAD"/>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4B6B6"/>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Recorrido, tarea 3</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5BEAD"/>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4B6B6"/>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c>
                  <a:txBody>
                    <a:bodyPr/>
                    <a:lstStyle/>
                    <a:p>
                      <a:pPr indent="0" marL="0">
                        <a:lnSpc>
                          <a:spcPts val="1820"/>
                        </a:lnSpc>
                        <a:buNone/>
                      </a:pPr>
                      <a:r>
                        <a:rPr lang="en-US" sz="1300" dirty="0">
                          <a:solidFill>
                            <a:srgbClr val="8A5800"/>
                          </a:solidFill>
                          <a:latin typeface="Libre Franklin" pitchFamily="34" charset="0"/>
                          <a:ea typeface="Libre Franklin" pitchFamily="34" charset="-122"/>
                          <a:cs typeface="Libre Franklin" pitchFamily="34" charset="-120"/>
                        </a:rPr>
                        <a:t>3 grave</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5BEAD"/>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4B6B6"/>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r>
              <a:tr h="359271">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4</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«Me rechazaron» lista cuatro causas con «materializar»</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5BEAD"/>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Nielsen 2 y 9</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5BEAD"/>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c>
                  <a:txBody>
                    <a:bodyPr/>
                    <a:lstStyle/>
                    <a:p>
                      <a:pPr indent="0" marL="0">
                        <a:lnSpc>
                          <a:spcPts val="1820"/>
                        </a:lnSpc>
                        <a:buNone/>
                      </a:pPr>
                      <a:r>
                        <a:rPr lang="en-US" sz="1300" dirty="0">
                          <a:solidFill>
                            <a:srgbClr val="8A5800"/>
                          </a:solidFill>
                          <a:latin typeface="Libre Franklin" pitchFamily="34" charset="0"/>
                          <a:ea typeface="Libre Franklin" pitchFamily="34" charset="-122"/>
                          <a:cs typeface="Libre Franklin" pitchFamily="34" charset="-120"/>
                        </a:rPr>
                        <a:t>3 grave</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5BEAD"/>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r>
              <a:tr h="359271">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5</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El aviso no dice dónde activar ni cuánto tarda</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5BEAD"/>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Recorrido, tarea 2</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5BEAD"/>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c>
                  <a:txBody>
                    <a:bodyPr/>
                    <a:lstStyle/>
                    <a:p>
                      <a:pPr indent="0" marL="0">
                        <a:lnSpc>
                          <a:spcPts val="1820"/>
                        </a:lnSpc>
                        <a:buNone/>
                      </a:pPr>
                      <a:r>
                        <a:rPr lang="en-US" sz="1300" dirty="0">
                          <a:solidFill>
                            <a:srgbClr val="8A5800"/>
                          </a:solidFill>
                          <a:latin typeface="Libre Franklin" pitchFamily="34" charset="0"/>
                          <a:ea typeface="Libre Franklin" pitchFamily="34" charset="-122"/>
                          <a:cs typeface="Libre Franklin" pitchFamily="34" charset="-120"/>
                        </a:rPr>
                        <a:t>3 grave</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5BEAD"/>
                      </a:solidFill>
                      <a:prstDash val="solid"/>
                      <a:round/>
                      <a:headEnd type="none" w="med" len="med"/>
                      <a:tailEnd type="none" w="med" len="med"/>
                    </a:lnL>
                    <a:lnR w="12700" cap="flat" cmpd="sng" algn="ctr">
                      <a:solidFill>
                        <a:srgbClr val="C5BEAD"/>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5BEAD"/>
                      </a:solidFill>
                      <a:prstDash val="solid"/>
                      <a:round/>
                      <a:headEnd type="none" w="med" len="med"/>
                      <a:tailEnd type="none" w="med" len="med"/>
                    </a:lnB>
                    <a:solidFill>
                      <a:srgbClr val="F7EED8"/>
                    </a:solidFill>
                  </a:tcPr>
                </a:tc>
              </a:tr>
              <a:tr h="359271">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6</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Pide el número de tarjeta; la activación se avisa tarde</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WCAG 3.3.7, Nielsen 5</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2 menor</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5BEAD"/>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r h="359271">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7</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Paleta ajena a TransMilenio; lectura difícil para mayores</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Sesión del 4 de oct.</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2 menor</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C4C4C0"/>
                      </a:solidFill>
                      <a:prstDash val="solid"/>
                      <a:round/>
                      <a:headEnd type="none" w="med" len="med"/>
                      <a:tailEnd type="none" w="med" len="med"/>
                    </a:lnB>
                  </a:tcPr>
                </a:tc>
              </a:tr>
            </a:tbl>
          </a:graphicData>
        </a:graphic>
      </p:graphicFrame>
      <p:sp>
        <p:nvSpPr>
          <p:cNvPr id="5" name="Text 2"/>
          <p:cNvSpPr/>
          <p:nvPr/>
        </p:nvSpPr>
        <p:spPr>
          <a:xfrm>
            <a:off x="812800" y="502543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i="1" dirty="0">
                <a:solidFill>
                  <a:srgbClr val="4A5568"/>
                </a:solidFill>
                <a:latin typeface="Libre Franklin" pitchFamily="34" charset="0"/>
                <a:ea typeface="Libre Franklin" pitchFamily="34" charset="-122"/>
                <a:cs typeface="Libre Franklin" pitchFamily="34" charset="-120"/>
              </a:rPr>
              <a:t>La versión 1 no cumplía el primer criterio: al pagar, nada indicaba que faltaba un paso.</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B3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3D82E"/>
                </a:solidFill>
                <a:latin typeface="Libre Franklin" pitchFamily="34" charset="0"/>
                <a:ea typeface="Libre Franklin" pitchFamily="34" charset="-122"/>
                <a:cs typeface="Libre Franklin" pitchFamily="34" charset="-120"/>
              </a:rPr>
              <a:t>PATRONES OBSERVADOS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F5F6F1"/>
                </a:solidFill>
                <a:latin typeface="Libre Franklin" pitchFamily="34" charset="0"/>
                <a:ea typeface="Libre Franklin" pitchFamily="34" charset="-122"/>
                <a:cs typeface="Libre Franklin" pitchFamily="34" charset="-120"/>
              </a:rPr>
              <a:t>Lo que se repitió en las tres tareas</a:t>
            </a:r>
            <a:endParaRPr lang="en-US" sz="3600" dirty="0"/>
          </a:p>
        </p:txBody>
      </p:sp>
      <p:sp>
        <p:nvSpPr>
          <p:cNvPr id="4" name="Shape 2"/>
          <p:cNvSpPr/>
          <p:nvPr/>
        </p:nvSpPr>
        <p:spPr>
          <a:xfrm>
            <a:off x="812800" y="1954411"/>
            <a:ext cx="3420467" cy="0"/>
          </a:xfrm>
          <a:prstGeom prst="line">
            <a:avLst/>
          </a:prstGeom>
          <a:noFill/>
          <a:ln w="38100">
            <a:solidFill>
              <a:srgbClr val="C3D82E"/>
            </a:solidFill>
            <a:prstDash val="solid"/>
          </a:ln>
        </p:spPr>
      </p:sp>
      <p:sp>
        <p:nvSpPr>
          <p:cNvPr id="5" name="Text 3"/>
          <p:cNvSpPr/>
          <p:nvPr/>
        </p:nvSpPr>
        <p:spPr>
          <a:xfrm>
            <a:off x="812800" y="2176661"/>
            <a:ext cx="3523081"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5F6F1"/>
                </a:solidFill>
                <a:latin typeface="Libre Franklin" pitchFamily="34" charset="0"/>
                <a:ea typeface="Libre Franklin" pitchFamily="34" charset="-122"/>
                <a:cs typeface="Libre Franklin" pitchFamily="34" charset="-120"/>
              </a:rPr>
              <a:t>El prototipo heredaba el error que quería corregir</a:t>
            </a:r>
            <a:endParaRPr lang="en-US" sz="1600" dirty="0"/>
          </a:p>
        </p:txBody>
      </p:sp>
      <p:sp>
        <p:nvSpPr>
          <p:cNvPr id="6" name="Text 4"/>
          <p:cNvSpPr/>
          <p:nvPr/>
        </p:nvSpPr>
        <p:spPr>
          <a:xfrm>
            <a:off x="812800" y="2786261"/>
            <a:ext cx="3523081"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FC8DA"/>
                </a:solidFill>
                <a:latin typeface="Libre Franklin" pitchFamily="34" charset="0"/>
                <a:ea typeface="Libre Franklin" pitchFamily="34" charset="-122"/>
                <a:cs typeface="Libre Franklin" pitchFamily="34" charset="-120"/>
              </a:rPr>
              <a:t>Lenguaje del operador y el mensaje de éxito como cierre.</a:t>
            </a:r>
            <a:endParaRPr lang="en-US" sz="1300" dirty="0"/>
          </a:p>
        </p:txBody>
      </p:sp>
      <p:sp>
        <p:nvSpPr>
          <p:cNvPr id="7" name="Shape 5"/>
          <p:cNvSpPr/>
          <p:nvPr/>
        </p:nvSpPr>
        <p:spPr>
          <a:xfrm>
            <a:off x="4385667" y="1954411"/>
            <a:ext cx="3420566" cy="0"/>
          </a:xfrm>
          <a:prstGeom prst="line">
            <a:avLst/>
          </a:prstGeom>
          <a:noFill/>
          <a:ln w="38100">
            <a:solidFill>
              <a:srgbClr val="C3D82E"/>
            </a:solidFill>
            <a:prstDash val="solid"/>
          </a:ln>
        </p:spPr>
      </p:sp>
      <p:sp>
        <p:nvSpPr>
          <p:cNvPr id="8" name="Text 6"/>
          <p:cNvSpPr/>
          <p:nvPr/>
        </p:nvSpPr>
        <p:spPr>
          <a:xfrm>
            <a:off x="4385667" y="2176661"/>
            <a:ext cx="3523183" cy="533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5F6F1"/>
                </a:solidFill>
                <a:latin typeface="Libre Franklin" pitchFamily="34" charset="0"/>
                <a:ea typeface="Libre Franklin" pitchFamily="34" charset="-122"/>
                <a:cs typeface="Libre Franklin" pitchFamily="34" charset="-120"/>
              </a:rPr>
              <a:t>La información crítica estaba en lo secundario</a:t>
            </a:r>
            <a:endParaRPr lang="en-US" sz="1600" dirty="0"/>
          </a:p>
        </p:txBody>
      </p:sp>
      <p:sp>
        <p:nvSpPr>
          <p:cNvPr id="9" name="Text 7"/>
          <p:cNvSpPr/>
          <p:nvPr/>
        </p:nvSpPr>
        <p:spPr>
          <a:xfrm>
            <a:off x="4385667" y="2786261"/>
            <a:ext cx="3523183"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FC8DA"/>
                </a:solidFill>
                <a:latin typeface="Libre Franklin" pitchFamily="34" charset="0"/>
                <a:ea typeface="Libre Franklin" pitchFamily="34" charset="-122"/>
                <a:cs typeface="Libre Franklin" pitchFamily="34" charset="-120"/>
              </a:rPr>
              <a:t>Una nota gris, un texto de 13 px y un color sin icono ni texto.</a:t>
            </a:r>
            <a:endParaRPr lang="en-US" sz="1300" dirty="0"/>
          </a:p>
        </p:txBody>
      </p:sp>
      <p:sp>
        <p:nvSpPr>
          <p:cNvPr id="10" name="Shape 8"/>
          <p:cNvSpPr/>
          <p:nvPr/>
        </p:nvSpPr>
        <p:spPr>
          <a:xfrm>
            <a:off x="7958634" y="1954411"/>
            <a:ext cx="3420566" cy="0"/>
          </a:xfrm>
          <a:prstGeom prst="line">
            <a:avLst/>
          </a:prstGeom>
          <a:noFill/>
          <a:ln w="38100">
            <a:solidFill>
              <a:srgbClr val="C3D82E"/>
            </a:solidFill>
            <a:prstDash val="solid"/>
          </a:ln>
        </p:spPr>
      </p:sp>
      <p:sp>
        <p:nvSpPr>
          <p:cNvPr id="11" name="Text 9"/>
          <p:cNvSpPr/>
          <p:nvPr/>
        </p:nvSpPr>
        <p:spPr>
          <a:xfrm>
            <a:off x="7958634" y="2176661"/>
            <a:ext cx="3523183" cy="279400"/>
          </a:xfrm>
          <a:prstGeom prst="rect">
            <a:avLst/>
          </a:prstGeom>
          <a:noFill/>
          <a:ln/>
        </p:spPr>
        <p:txBody>
          <a:bodyPr wrap="square" lIns="0" tIns="0" rIns="0" bIns="0" rtlCol="0" anchor="t">
            <a:normAutofit/>
          </a:bodyPr>
          <a:lstStyle/>
          <a:p>
            <a:pPr algn="l" indent="0" marL="0">
              <a:lnSpc>
                <a:spcPts val="2000"/>
              </a:lnSpc>
              <a:buNone/>
            </a:pPr>
            <a:r>
              <a:rPr lang="en-US" sz="1600" b="1" dirty="0">
                <a:solidFill>
                  <a:srgbClr val="F5F6F1"/>
                </a:solidFill>
                <a:latin typeface="Libre Franklin" pitchFamily="34" charset="0"/>
                <a:ea typeface="Libre Franklin" pitchFamily="34" charset="-122"/>
                <a:cs typeface="Libre Franklin" pitchFamily="34" charset="-120"/>
              </a:rPr>
              <a:t>Bajo presión, cada toque cuenta</a:t>
            </a:r>
            <a:endParaRPr lang="en-US" sz="1600" dirty="0"/>
          </a:p>
        </p:txBody>
      </p:sp>
      <p:sp>
        <p:nvSpPr>
          <p:cNvPr id="12" name="Text 10"/>
          <p:cNvSpPr/>
          <p:nvPr/>
        </p:nvSpPr>
        <p:spPr>
          <a:xfrm>
            <a:off x="7958634" y="2532261"/>
            <a:ext cx="3523183"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FC8DA"/>
                </a:solidFill>
                <a:latin typeface="Libre Franklin" pitchFamily="34" charset="0"/>
                <a:ea typeface="Libre Franklin" pitchFamily="34" charset="-122"/>
                <a:cs typeface="Libre Franklin" pitchFamily="34" charset="-120"/>
              </a:rPr>
              <a:t>Frente al torniquete, una solución a tres toques equivale a no tener solución.</a:t>
            </a:r>
            <a:endParaRPr lang="en-US" sz="1300" dirty="0"/>
          </a:p>
        </p:txBody>
      </p:sp>
      <p:sp>
        <p:nvSpPr>
          <p:cNvPr id="13" name="Shape 11"/>
          <p:cNvSpPr/>
          <p:nvPr/>
        </p:nvSpPr>
        <p:spPr>
          <a:xfrm>
            <a:off x="812800" y="3569692"/>
            <a:ext cx="10566400" cy="1287661"/>
          </a:xfrm>
          <a:prstGeom prst="roundRect">
            <a:avLst>
              <a:gd name="adj" fmla="val 9863"/>
            </a:avLst>
          </a:prstGeom>
          <a:solidFill>
            <a:srgbClr val="1A2A55"/>
          </a:solidFill>
          <a:ln/>
        </p:spPr>
      </p:sp>
      <p:sp>
        <p:nvSpPr>
          <p:cNvPr id="14" name="Text 12"/>
          <p:cNvSpPr/>
          <p:nvPr/>
        </p:nvSpPr>
        <p:spPr>
          <a:xfrm>
            <a:off x="1066800" y="3798292"/>
            <a:ext cx="10360152"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3D82E"/>
                </a:solidFill>
                <a:latin typeface="Libre Franklin" pitchFamily="34" charset="0"/>
                <a:ea typeface="Libre Franklin" pitchFamily="34" charset="-122"/>
                <a:cs typeface="Libre Franklin" pitchFamily="34" charset="-120"/>
              </a:rPr>
              <a:t>VOZ DE LAS USUARIAS · 4 DE OCTUBRE</a:t>
            </a:r>
            <a:endParaRPr lang="en-US" sz="1200" dirty="0"/>
          </a:p>
        </p:txBody>
      </p:sp>
      <p:sp>
        <p:nvSpPr>
          <p:cNvPr id="15" name="Text 13"/>
          <p:cNvSpPr/>
          <p:nvPr/>
        </p:nvSpPr>
        <p:spPr>
          <a:xfrm>
            <a:off x="1066800" y="4113213"/>
            <a:ext cx="10360152"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F5F6F1"/>
                </a:solidFill>
                <a:latin typeface="Libre Franklin" pitchFamily="34" charset="0"/>
                <a:ea typeface="Libre Franklin" pitchFamily="34" charset="-122"/>
                <a:cs typeface="Libre Franklin" pitchFamily="34" charset="-120"/>
              </a:rPr>
              <a:t>Claudia: que la app se reconozca como TransMilenio. Rosalbina: una letra fácil de leer. Ares: colores frescos y una interacción muy intuitiva, que sigue en validación.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1157962" y="1087140"/>
            <a:ext cx="140517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30C0C"/>
                </a:solidFill>
                <a:latin typeface="Libre Franklin" pitchFamily="34" charset="0"/>
                <a:ea typeface="Libre Franklin" pitchFamily="34" charset="-122"/>
                <a:cs typeface="Libre Franklin" pitchFamily="34" charset="-120"/>
              </a:rPr>
              <a:t>Antes · versión 1</a:t>
            </a:r>
            <a:endParaRPr lang="en-US" sz="1200" dirty="0"/>
          </a:p>
        </p:txBody>
      </p:sp>
      <p:pic>
        <p:nvPicPr>
          <p:cNvPr id="3" name="Image 0" descr="Versión 1: ¡Recarga exitosa! con nota gris sobre la activación y botón Finalizar">    </p:cNvPr>
          <p:cNvPicPr>
            <a:picLocks noChangeAspect="1"/>
          </p:cNvPicPr>
          <p:nvPr/>
        </p:nvPicPr>
        <p:blipFill>
          <a:blip r:embed="rId1"/>
          <a:srcRect l="0" r="0" t="-67" b="-67"/>
          <a:stretch/>
        </p:blipFill>
        <p:spPr>
          <a:xfrm>
            <a:off x="812800" y="1402060"/>
            <a:ext cx="2095500" cy="4368800"/>
          </a:xfrm>
          <a:prstGeom prst="rect">
            <a:avLst/>
          </a:prstGeom>
        </p:spPr>
      </p:pic>
      <p:sp>
        <p:nvSpPr>
          <p:cNvPr id="4" name="Text 1"/>
          <p:cNvSpPr/>
          <p:nvPr/>
        </p:nvSpPr>
        <p:spPr>
          <a:xfrm>
            <a:off x="3324741" y="1087140"/>
            <a:ext cx="166901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E6B3A"/>
                </a:solidFill>
                <a:latin typeface="Libre Franklin" pitchFamily="34" charset="0"/>
                <a:ea typeface="Libre Franklin" pitchFamily="34" charset="-122"/>
                <a:cs typeface="Libre Franklin" pitchFamily="34" charset="-120"/>
              </a:rPr>
              <a:t>Después · versión 2</a:t>
            </a:r>
            <a:endParaRPr lang="en-US" sz="1200" dirty="0"/>
          </a:p>
        </p:txBody>
      </p:sp>
      <p:pic>
        <p:nvPicPr>
          <p:cNvPr id="5" name="Image 1" descr="Versión 2: pago recibido, saldo todavía no, cuenta regresiva para activar">    </p:cNvPr>
          <p:cNvPicPr>
            <a:picLocks noChangeAspect="1"/>
          </p:cNvPicPr>
          <p:nvPr/>
        </p:nvPicPr>
        <p:blipFill>
          <a:blip r:embed="rId2"/>
          <a:srcRect l="0" r="0" t="-67" b="-67"/>
          <a:stretch/>
        </p:blipFill>
        <p:spPr>
          <a:xfrm>
            <a:off x="3111500" y="1402060"/>
            <a:ext cx="2095500" cy="4368800"/>
          </a:xfrm>
          <a:prstGeom prst="rect">
            <a:avLst/>
          </a:prstGeom>
        </p:spPr>
      </p:pic>
      <p:sp>
        <p:nvSpPr>
          <p:cNvPr id="6" name="Text 2"/>
          <p:cNvSpPr/>
          <p:nvPr/>
        </p:nvSpPr>
        <p:spPr>
          <a:xfrm>
            <a:off x="5715000" y="1988939"/>
            <a:ext cx="583412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3FA0"/>
                </a:solidFill>
                <a:latin typeface="Libre Franklin" pitchFamily="34" charset="0"/>
                <a:ea typeface="Libre Franklin" pitchFamily="34" charset="-122"/>
                <a:cs typeface="Libre Franklin" pitchFamily="34" charset="-120"/>
              </a:rPr>
              <a:t>CAMBIO 1 DE 4 · CONFIRMACIÓN</a:t>
            </a:r>
            <a:endParaRPr lang="en-US" sz="1200" dirty="0"/>
          </a:p>
        </p:txBody>
      </p:sp>
      <p:sp>
        <p:nvSpPr>
          <p:cNvPr id="7" name="Text 3"/>
          <p:cNvSpPr/>
          <p:nvPr>
            <p:ph type="title"/>
          </p:nvPr>
        </p:nvSpPr>
        <p:spPr>
          <a:xfrm>
            <a:off x="5715000" y="2405459"/>
            <a:ext cx="5834126"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D"/>
                </a:solidFill>
                <a:latin typeface="Libre Franklin" pitchFamily="34" charset="0"/>
                <a:ea typeface="Libre Franklin" pitchFamily="34" charset="-122"/>
                <a:cs typeface="Libre Franklin" pitchFamily="34" charset="-120"/>
              </a:rPr>
              <a:t>La confirmación deja de ser un cierre</a:t>
            </a:r>
            <a:endParaRPr lang="en-US" sz="3600" dirty="0"/>
          </a:p>
        </p:txBody>
      </p:sp>
      <p:sp>
        <p:nvSpPr>
          <p:cNvPr id="8" name="Text 4"/>
          <p:cNvSpPr/>
          <p:nvPr/>
        </p:nvSpPr>
        <p:spPr>
          <a:xfrm>
            <a:off x="5715000" y="3614341"/>
            <a:ext cx="583412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Libre Franklin" pitchFamily="34" charset="0"/>
                <a:ea typeface="Libre Franklin" pitchFamily="34" charset="-122"/>
                <a:cs typeface="Libre Franklin" pitchFamily="34" charset="-120"/>
              </a:rPr>
              <a:t>Dos pasos numerados: pago recibido y saldo todavía no, con la hora de activación y una cuenta regresiva.</a:t>
            </a:r>
            <a:endParaRPr lang="en-US" sz="1600" dirty="0"/>
          </a:p>
        </p:txBody>
      </p:sp>
      <p:sp>
        <p:nvSpPr>
          <p:cNvPr id="9" name="Text 5"/>
          <p:cNvSpPr/>
          <p:nvPr/>
        </p:nvSpPr>
        <p:spPr>
          <a:xfrm>
            <a:off x="5715000" y="4386461"/>
            <a:ext cx="5664200" cy="482600"/>
          </a:xfrm>
          <a:prstGeom prst="roundRect">
            <a:avLst>
              <a:gd name="adj" fmla="val 15789"/>
            </a:avLst>
          </a:prstGeom>
          <a:solidFill>
            <a:srgbClr val="E9ECE4"/>
          </a:solidFill>
          <a:ln/>
        </p:spPr>
        <p:txBody>
          <a:bodyPr wrap="square" lIns="155482" tIns="104682" rIns="0" bIns="79282" rtlCol="0" anchor="t">
            <a:normAutofit/>
          </a:bodyPr>
          <a:lstStyle/>
          <a:p>
            <a:pPr algn="l" indent="0" marL="0">
              <a:lnSpc>
                <a:spcPts val="1800"/>
              </a:lnSpc>
              <a:buNone/>
            </a:pPr>
            <a:r>
              <a:rPr lang="en-US" sz="1200" dirty="0">
                <a:solidFill>
                  <a:srgbClr val="0E1B3D"/>
                </a:solidFill>
                <a:latin typeface="Libre Franklin" pitchFamily="34" charset="0"/>
                <a:ea typeface="Libre Franklin" pitchFamily="34" charset="-122"/>
                <a:cs typeface="Libre Franklin" pitchFamily="34" charset="-120"/>
              </a:rPr>
              <a:t>Problema 1, severidad 4 · Nielsen 1, visibilidad del estado · Efecto Zeigarnik</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1157962" y="1087140"/>
            <a:ext cx="140517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30C0C"/>
                </a:solidFill>
                <a:latin typeface="Libre Franklin" pitchFamily="34" charset="0"/>
                <a:ea typeface="Libre Franklin" pitchFamily="34" charset="-122"/>
                <a:cs typeface="Libre Franklin" pitchFamily="34" charset="-120"/>
              </a:rPr>
              <a:t>Antes · versión 1</a:t>
            </a:r>
            <a:endParaRPr lang="en-US" sz="1200" dirty="0"/>
          </a:p>
        </p:txBody>
      </p:sp>
      <p:pic>
        <p:nvPicPr>
          <p:cNvPr id="3" name="Image 0" descr="Versión 1: inicio con un solo saldo sumado de 20.850 pesos">    </p:cNvPr>
          <p:cNvPicPr>
            <a:picLocks noChangeAspect="1"/>
          </p:cNvPicPr>
          <p:nvPr/>
        </p:nvPicPr>
        <p:blipFill>
          <a:blip r:embed="rId1"/>
          <a:srcRect l="0" r="0" t="-67" b="-67"/>
          <a:stretch/>
        </p:blipFill>
        <p:spPr>
          <a:xfrm>
            <a:off x="812800" y="1402060"/>
            <a:ext cx="2095500" cy="4368800"/>
          </a:xfrm>
          <a:prstGeom prst="rect">
            <a:avLst/>
          </a:prstGeom>
        </p:spPr>
      </p:pic>
      <p:sp>
        <p:nvSpPr>
          <p:cNvPr id="4" name="Text 1"/>
          <p:cNvSpPr/>
          <p:nvPr/>
        </p:nvSpPr>
        <p:spPr>
          <a:xfrm>
            <a:off x="3324741" y="1087140"/>
            <a:ext cx="166901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E6B3A"/>
                </a:solidFill>
                <a:latin typeface="Libre Franklin" pitchFamily="34" charset="0"/>
                <a:ea typeface="Libre Franklin" pitchFamily="34" charset="-122"/>
                <a:cs typeface="Libre Franklin" pitchFamily="34" charset="-120"/>
              </a:rPr>
              <a:t>Después · versión 2</a:t>
            </a:r>
            <a:endParaRPr lang="en-US" sz="1200" dirty="0"/>
          </a:p>
        </p:txBody>
      </p:sp>
      <p:pic>
        <p:nvPicPr>
          <p:cNvPr id="5" name="Image 1" descr="Versión 2: inicio que separa saldo disponible de saldo pendiente, con icono, texto y acción">    </p:cNvPr>
          <p:cNvPicPr>
            <a:picLocks noChangeAspect="1"/>
          </p:cNvPicPr>
          <p:nvPr/>
        </p:nvPicPr>
        <p:blipFill>
          <a:blip r:embed="rId2"/>
          <a:srcRect l="0" r="0" t="-67" b="-67"/>
          <a:stretch/>
        </p:blipFill>
        <p:spPr>
          <a:xfrm>
            <a:off x="3111500" y="1402060"/>
            <a:ext cx="2095500" cy="4368800"/>
          </a:xfrm>
          <a:prstGeom prst="rect">
            <a:avLst/>
          </a:prstGeom>
        </p:spPr>
      </p:pic>
      <p:sp>
        <p:nvSpPr>
          <p:cNvPr id="6" name="Text 2"/>
          <p:cNvSpPr/>
          <p:nvPr/>
        </p:nvSpPr>
        <p:spPr>
          <a:xfrm>
            <a:off x="5715000" y="1988939"/>
            <a:ext cx="583412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3FA0"/>
                </a:solidFill>
                <a:latin typeface="Libre Franklin" pitchFamily="34" charset="0"/>
                <a:ea typeface="Libre Franklin" pitchFamily="34" charset="-122"/>
                <a:cs typeface="Libre Franklin" pitchFamily="34" charset="-120"/>
              </a:rPr>
              <a:t>CAMBIO 2 DE 4 · INICIO PENDIENTE</a:t>
            </a:r>
            <a:endParaRPr lang="en-US" sz="1200" dirty="0"/>
          </a:p>
        </p:txBody>
      </p:sp>
      <p:sp>
        <p:nvSpPr>
          <p:cNvPr id="7" name="Text 3"/>
          <p:cNvSpPr/>
          <p:nvPr>
            <p:ph type="title"/>
          </p:nvPr>
        </p:nvSpPr>
        <p:spPr>
          <a:xfrm>
            <a:off x="5715000" y="2405459"/>
            <a:ext cx="5834126"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D"/>
                </a:solidFill>
                <a:latin typeface="Libre Franklin" pitchFamily="34" charset="0"/>
                <a:ea typeface="Libre Franklin" pitchFamily="34" charset="-122"/>
                <a:cs typeface="Libre Franklin" pitchFamily="34" charset="-120"/>
              </a:rPr>
              <a:t>Un valor nunca aparece sin su estado</a:t>
            </a:r>
            <a:endParaRPr lang="en-US" sz="3600" dirty="0"/>
          </a:p>
        </p:txBody>
      </p:sp>
      <p:sp>
        <p:nvSpPr>
          <p:cNvPr id="8" name="Text 4"/>
          <p:cNvSpPr/>
          <p:nvPr/>
        </p:nvSpPr>
        <p:spPr>
          <a:xfrm>
            <a:off x="5715000" y="3614341"/>
            <a:ext cx="583412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Libre Franklin" pitchFamily="34" charset="0"/>
                <a:ea typeface="Libre Franklin" pitchFamily="34" charset="-122"/>
                <a:cs typeface="Libre Franklin" pitchFamily="34" charset="-120"/>
              </a:rPr>
              <a:t>Ya no suma $20.850. Separa lo que sirve para viajar de lo que todavía no, con icono, texto de 32 px y una acción.</a:t>
            </a:r>
            <a:endParaRPr lang="en-US" sz="1600" dirty="0"/>
          </a:p>
        </p:txBody>
      </p:sp>
      <p:sp>
        <p:nvSpPr>
          <p:cNvPr id="9" name="Text 5"/>
          <p:cNvSpPr/>
          <p:nvPr/>
        </p:nvSpPr>
        <p:spPr>
          <a:xfrm>
            <a:off x="5715000" y="4386461"/>
            <a:ext cx="5664200" cy="482600"/>
          </a:xfrm>
          <a:prstGeom prst="roundRect">
            <a:avLst>
              <a:gd name="adj" fmla="val 15789"/>
            </a:avLst>
          </a:prstGeom>
          <a:solidFill>
            <a:srgbClr val="E9ECE4"/>
          </a:solidFill>
          <a:ln/>
        </p:spPr>
        <p:txBody>
          <a:bodyPr wrap="square" lIns="155482" tIns="104682" rIns="0" bIns="79282" rtlCol="0" anchor="t">
            <a:normAutofit/>
          </a:bodyPr>
          <a:lstStyle/>
          <a:p>
            <a:pPr algn="l" indent="0" marL="0">
              <a:lnSpc>
                <a:spcPts val="1800"/>
              </a:lnSpc>
              <a:buNone/>
            </a:pPr>
            <a:r>
              <a:rPr lang="en-US" sz="1200" dirty="0">
                <a:solidFill>
                  <a:srgbClr val="0E1B3D"/>
                </a:solidFill>
                <a:latin typeface="Libre Franklin" pitchFamily="34" charset="0"/>
                <a:ea typeface="Libre Franklin" pitchFamily="34" charset="-122"/>
                <a:cs typeface="Libre Franklin" pitchFamily="34" charset="-120"/>
              </a:rPr>
              <a:t>Problema 2, severidad 4 · WCAG 1.4.1, uso del color · Nielsen 1</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1157962" y="1087140"/>
            <a:ext cx="140517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30C0C"/>
                </a:solidFill>
                <a:latin typeface="Libre Franklin" pitchFamily="34" charset="0"/>
                <a:ea typeface="Libre Franklin" pitchFamily="34" charset="-122"/>
                <a:cs typeface="Libre Franklin" pitchFamily="34" charset="-120"/>
              </a:rPr>
              <a:t>Antes · versión 1</a:t>
            </a:r>
            <a:endParaRPr lang="en-US" sz="1200" dirty="0"/>
          </a:p>
        </p:txBody>
      </p:sp>
      <p:pic>
        <p:nvPicPr>
          <p:cNvPr id="3" name="Image 0" descr="Versión 1: lista de cuatro causas posibles del rechazo con jerga del operador">    </p:cNvPr>
          <p:cNvPicPr>
            <a:picLocks noChangeAspect="1"/>
          </p:cNvPicPr>
          <p:nvPr/>
        </p:nvPicPr>
        <p:blipFill>
          <a:blip r:embed="rId1"/>
          <a:srcRect l="0" r="0" t="-67" b="-67"/>
          <a:stretch/>
        </p:blipFill>
        <p:spPr>
          <a:xfrm>
            <a:off x="812800" y="1402060"/>
            <a:ext cx="2095500" cy="4368800"/>
          </a:xfrm>
          <a:prstGeom prst="rect">
            <a:avLst/>
          </a:prstGeom>
        </p:spPr>
      </p:pic>
      <p:sp>
        <p:nvSpPr>
          <p:cNvPr id="4" name="Text 1"/>
          <p:cNvSpPr/>
          <p:nvPr/>
        </p:nvSpPr>
        <p:spPr>
          <a:xfrm>
            <a:off x="3324741" y="1087140"/>
            <a:ext cx="166901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E6B3A"/>
                </a:solidFill>
                <a:latin typeface="Libre Franklin" pitchFamily="34" charset="0"/>
                <a:ea typeface="Libre Franklin" pitchFamily="34" charset="-122"/>
                <a:cs typeface="Libre Franklin" pitchFamily="34" charset="-120"/>
              </a:rPr>
              <a:t>Después · versión 2</a:t>
            </a:r>
            <a:endParaRPr lang="en-US" sz="1200" dirty="0"/>
          </a:p>
        </p:txBody>
      </p:sp>
      <p:pic>
        <p:nvPicPr>
          <p:cNvPr id="5" name="Image 1" descr="Versión 2: Me rechazaron, con una causa probable y la solución a 20 metros">    </p:cNvPr>
          <p:cNvPicPr>
            <a:picLocks noChangeAspect="1"/>
          </p:cNvPicPr>
          <p:nvPr/>
        </p:nvPicPr>
        <p:blipFill>
          <a:blip r:embed="rId2"/>
          <a:srcRect l="0" r="0" t="-67" b="-67"/>
          <a:stretch/>
        </p:blipFill>
        <p:spPr>
          <a:xfrm>
            <a:off x="3111500" y="1402060"/>
            <a:ext cx="2095500" cy="4368800"/>
          </a:xfrm>
          <a:prstGeom prst="rect">
            <a:avLst/>
          </a:prstGeom>
        </p:spPr>
      </p:pic>
      <p:sp>
        <p:nvSpPr>
          <p:cNvPr id="6" name="Text 2"/>
          <p:cNvSpPr/>
          <p:nvPr/>
        </p:nvSpPr>
        <p:spPr>
          <a:xfrm>
            <a:off x="5715000" y="1988939"/>
            <a:ext cx="583412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3FA0"/>
                </a:solidFill>
                <a:latin typeface="Libre Franklin" pitchFamily="34" charset="0"/>
                <a:ea typeface="Libre Franklin" pitchFamily="34" charset="-122"/>
                <a:cs typeface="Libre Franklin" pitchFamily="34" charset="-120"/>
              </a:rPr>
              <a:t>CAMBIO 3 DE 4 · RECHAZO</a:t>
            </a:r>
            <a:endParaRPr lang="en-US" sz="1200" dirty="0"/>
          </a:p>
        </p:txBody>
      </p:sp>
      <p:sp>
        <p:nvSpPr>
          <p:cNvPr id="7" name="Text 3"/>
          <p:cNvSpPr/>
          <p:nvPr>
            <p:ph type="title"/>
          </p:nvPr>
        </p:nvSpPr>
        <p:spPr>
          <a:xfrm>
            <a:off x="5715000" y="2405459"/>
            <a:ext cx="5834126"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D"/>
                </a:solidFill>
                <a:latin typeface="Libre Franklin" pitchFamily="34" charset="0"/>
                <a:ea typeface="Libre Franklin" pitchFamily="34" charset="-122"/>
                <a:cs typeface="Libre Franklin" pitchFamily="34" charset="-120"/>
              </a:rPr>
              <a:t>De «Ayuda» a «Me rechazaron»</a:t>
            </a:r>
            <a:endParaRPr lang="en-US" sz="3600" dirty="0"/>
          </a:p>
        </p:txBody>
      </p:sp>
      <p:sp>
        <p:nvSpPr>
          <p:cNvPr id="8" name="Text 4"/>
          <p:cNvSpPr/>
          <p:nvPr/>
        </p:nvSpPr>
        <p:spPr>
          <a:xfrm>
            <a:off x="5715000" y="3614341"/>
            <a:ext cx="583412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Libre Franklin" pitchFamily="34" charset="0"/>
                <a:ea typeface="Libre Franklin" pitchFamily="34" charset="-122"/>
                <a:cs typeface="Libre Franklin" pitchFamily="34" charset="-120"/>
              </a:rPr>
              <a:t>Una sola causa probable y la solución a 20 metros. De tres toques a uno desde el inicio.</a:t>
            </a:r>
            <a:endParaRPr lang="en-US" sz="1600" dirty="0"/>
          </a:p>
        </p:txBody>
      </p:sp>
      <p:sp>
        <p:nvSpPr>
          <p:cNvPr id="9" name="Text 5"/>
          <p:cNvSpPr/>
          <p:nvPr/>
        </p:nvSpPr>
        <p:spPr>
          <a:xfrm>
            <a:off x="5715000" y="4386461"/>
            <a:ext cx="5664200" cy="482600"/>
          </a:xfrm>
          <a:prstGeom prst="roundRect">
            <a:avLst>
              <a:gd name="adj" fmla="val 15789"/>
            </a:avLst>
          </a:prstGeom>
          <a:solidFill>
            <a:srgbClr val="E9ECE4"/>
          </a:solidFill>
          <a:ln/>
        </p:spPr>
        <p:txBody>
          <a:bodyPr wrap="square" lIns="155482" tIns="104682" rIns="0" bIns="79282" rtlCol="0" anchor="t">
            <a:normAutofit/>
          </a:bodyPr>
          <a:lstStyle/>
          <a:p>
            <a:pPr algn="l" indent="0" marL="0">
              <a:lnSpc>
                <a:spcPts val="1800"/>
              </a:lnSpc>
              <a:buNone/>
            </a:pPr>
            <a:r>
              <a:rPr lang="en-US" sz="1200" dirty="0">
                <a:solidFill>
                  <a:srgbClr val="0E1B3D"/>
                </a:solidFill>
                <a:latin typeface="Libre Franklin" pitchFamily="34" charset="0"/>
                <a:ea typeface="Libre Franklin" pitchFamily="34" charset="-122"/>
                <a:cs typeface="Libre Franklin" pitchFamily="34" charset="-120"/>
              </a:rPr>
              <a:t>Problemas 3 y 4, severidad 3 · Nielsen 2 y 9 · Ley de Hick</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1157962" y="1087140"/>
            <a:ext cx="1405176"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A30C0C"/>
                </a:solidFill>
                <a:latin typeface="Libre Franklin" pitchFamily="34" charset="0"/>
                <a:ea typeface="Libre Franklin" pitchFamily="34" charset="-122"/>
                <a:cs typeface="Libre Franklin" pitchFamily="34" charset="-120"/>
              </a:rPr>
              <a:t>Antes · versión 1</a:t>
            </a:r>
            <a:endParaRPr lang="en-US" sz="1200" dirty="0"/>
          </a:p>
        </p:txBody>
      </p:sp>
      <p:pic>
        <p:nvPicPr>
          <p:cNvPr id="3" name="Image 0" descr="Versión 1: aviso genérico Tienes una recarga pendiente">    </p:cNvPr>
          <p:cNvPicPr>
            <a:picLocks noChangeAspect="1"/>
          </p:cNvPicPr>
          <p:nvPr/>
        </p:nvPicPr>
        <p:blipFill>
          <a:blip r:embed="rId1"/>
          <a:srcRect l="0" r="0" t="-67" b="-67"/>
          <a:stretch/>
        </p:blipFill>
        <p:spPr>
          <a:xfrm>
            <a:off x="812800" y="1402060"/>
            <a:ext cx="2095500" cy="4368800"/>
          </a:xfrm>
          <a:prstGeom prst="rect">
            <a:avLst/>
          </a:prstGeom>
        </p:spPr>
      </p:pic>
      <p:sp>
        <p:nvSpPr>
          <p:cNvPr id="4" name="Text 1"/>
          <p:cNvSpPr/>
          <p:nvPr/>
        </p:nvSpPr>
        <p:spPr>
          <a:xfrm>
            <a:off x="3324741" y="1087140"/>
            <a:ext cx="1669018" cy="238720"/>
          </a:xfrm>
          <a:prstGeom prst="rect">
            <a:avLst/>
          </a:prstGeom>
          <a:noFill/>
          <a:ln/>
        </p:spPr>
        <p:txBody>
          <a:bodyPr wrap="square" lIns="0" tIns="0" rIns="0" bIns="0" rtlCol="0" anchor="t">
            <a:normAutofit/>
          </a:bodyPr>
          <a:lstStyle/>
          <a:p>
            <a:pPr algn="ctr" indent="0" marL="0">
              <a:lnSpc>
                <a:spcPts val="1680"/>
              </a:lnSpc>
              <a:buNone/>
            </a:pPr>
            <a:r>
              <a:rPr lang="en-US" sz="1200" b="1" dirty="0">
                <a:solidFill>
                  <a:srgbClr val="1E6B3A"/>
                </a:solidFill>
                <a:latin typeface="Libre Franklin" pitchFamily="34" charset="0"/>
                <a:ea typeface="Libre Franklin" pitchFamily="34" charset="-122"/>
                <a:cs typeface="Libre Franklin" pitchFamily="34" charset="-120"/>
              </a:rPr>
              <a:t>Después · versión 2</a:t>
            </a:r>
            <a:endParaRPr lang="en-US" sz="1200" dirty="0"/>
          </a:p>
        </p:txBody>
      </p:sp>
      <p:pic>
        <p:nvPicPr>
          <p:cNvPr id="5" name="Image 1" descr="Versión 2: aviso con lugar, torniquete y tiempo, y SMS espejo">    </p:cNvPr>
          <p:cNvPicPr>
            <a:picLocks noChangeAspect="1"/>
          </p:cNvPicPr>
          <p:nvPr/>
        </p:nvPicPr>
        <p:blipFill>
          <a:blip r:embed="rId2"/>
          <a:srcRect l="0" r="0" t="-67" b="-67"/>
          <a:stretch/>
        </p:blipFill>
        <p:spPr>
          <a:xfrm>
            <a:off x="3111500" y="1402060"/>
            <a:ext cx="2095500" cy="4368800"/>
          </a:xfrm>
          <a:prstGeom prst="rect">
            <a:avLst/>
          </a:prstGeom>
        </p:spPr>
      </p:pic>
      <p:sp>
        <p:nvSpPr>
          <p:cNvPr id="6" name="Text 2"/>
          <p:cNvSpPr/>
          <p:nvPr/>
        </p:nvSpPr>
        <p:spPr>
          <a:xfrm>
            <a:off x="5715000" y="1988939"/>
            <a:ext cx="5834126"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3FA0"/>
                </a:solidFill>
                <a:latin typeface="Libre Franklin" pitchFamily="34" charset="0"/>
                <a:ea typeface="Libre Franklin" pitchFamily="34" charset="-122"/>
                <a:cs typeface="Libre Franklin" pitchFamily="34" charset="-120"/>
              </a:rPr>
              <a:t>CAMBIO 4 DE 4 · AVISO</a:t>
            </a:r>
            <a:endParaRPr lang="en-US" sz="1200" dirty="0"/>
          </a:p>
        </p:txBody>
      </p:sp>
      <p:sp>
        <p:nvSpPr>
          <p:cNvPr id="7" name="Text 3"/>
          <p:cNvSpPr/>
          <p:nvPr>
            <p:ph type="title"/>
          </p:nvPr>
        </p:nvSpPr>
        <p:spPr>
          <a:xfrm>
            <a:off x="5715000" y="2405459"/>
            <a:ext cx="5834126" cy="103108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D"/>
                </a:solidFill>
                <a:latin typeface="Libre Franklin" pitchFamily="34" charset="0"/>
                <a:ea typeface="Libre Franklin" pitchFamily="34" charset="-122"/>
                <a:cs typeface="Libre Franklin" pitchFamily="34" charset="-120"/>
              </a:rPr>
              <a:t>Un aviso con el que se puede actuar</a:t>
            </a:r>
            <a:endParaRPr lang="en-US" sz="3600" dirty="0"/>
          </a:p>
        </p:txBody>
      </p:sp>
      <p:sp>
        <p:nvSpPr>
          <p:cNvPr id="8" name="Text 4"/>
          <p:cNvSpPr/>
          <p:nvPr/>
        </p:nvSpPr>
        <p:spPr>
          <a:xfrm>
            <a:off x="5715000" y="3614341"/>
            <a:ext cx="583412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A5568"/>
                </a:solidFill>
                <a:latin typeface="Libre Franklin" pitchFamily="34" charset="0"/>
                <a:ea typeface="Libre Franklin" pitchFamily="34" charset="-122"/>
                <a:cs typeface="Libre Franklin" pitchFamily="34" charset="-120"/>
              </a:rPr>
              <a:t>Dice dónde activar, en qué torniquete y cuánto tarda. Llega también por SMS, sin datos.</a:t>
            </a:r>
            <a:endParaRPr lang="en-US" sz="1600" dirty="0"/>
          </a:p>
        </p:txBody>
      </p:sp>
      <p:sp>
        <p:nvSpPr>
          <p:cNvPr id="9" name="Text 5"/>
          <p:cNvSpPr/>
          <p:nvPr/>
        </p:nvSpPr>
        <p:spPr>
          <a:xfrm>
            <a:off x="5715000" y="4386461"/>
            <a:ext cx="5664200" cy="482600"/>
          </a:xfrm>
          <a:prstGeom prst="roundRect">
            <a:avLst>
              <a:gd name="adj" fmla="val 15789"/>
            </a:avLst>
          </a:prstGeom>
          <a:solidFill>
            <a:srgbClr val="E9ECE4"/>
          </a:solidFill>
          <a:ln/>
        </p:spPr>
        <p:txBody>
          <a:bodyPr wrap="square" lIns="155482" tIns="104682" rIns="0" bIns="79282" rtlCol="0" anchor="t">
            <a:normAutofit/>
          </a:bodyPr>
          <a:lstStyle/>
          <a:p>
            <a:pPr algn="l" indent="0" marL="0">
              <a:lnSpc>
                <a:spcPts val="1800"/>
              </a:lnSpc>
              <a:buNone/>
            </a:pPr>
            <a:r>
              <a:rPr lang="en-US" sz="1200" dirty="0">
                <a:solidFill>
                  <a:srgbClr val="0E1B3D"/>
                </a:solidFill>
                <a:latin typeface="Libre Franklin" pitchFamily="34" charset="0"/>
                <a:ea typeface="Libre Franklin" pitchFamily="34" charset="-122"/>
                <a:cs typeface="Libre Franklin" pitchFamily="34" charset="-120"/>
              </a:rPr>
              <a:t>Problema 5, severidad 3 · Nielsen 5, prevención de errores · WCAG 2.2.1</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CE4"/>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3FA0"/>
                </a:solidFill>
                <a:latin typeface="Libre Franklin" pitchFamily="34" charset="0"/>
                <a:ea typeface="Libre Franklin" pitchFamily="34" charset="-122"/>
                <a:cs typeface="Libre Franklin" pitchFamily="34" charset="-120"/>
              </a:rPr>
              <a:t>JUSTIFICACIÓN DE LAS MEJORAS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D"/>
                </a:solidFill>
                <a:latin typeface="Libre Franklin" pitchFamily="34" charset="0"/>
                <a:ea typeface="Libre Franklin" pitchFamily="34" charset="-122"/>
                <a:cs typeface="Libre Franklin" pitchFamily="34" charset="-120"/>
              </a:rPr>
              <a:t>Ninguna mejora nació de una preferencia</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48061"/>
          <a:ext cx="10553700" cy="2617788"/>
        </p:xfrm>
        <a:graphic>
          <a:graphicData uri="http://schemas.openxmlformats.org/drawingml/2006/table">
            <a:tbl>
              <a:tblPr/>
              <a:tblGrid>
                <a:gridCol w="4221480"/>
                <a:gridCol w="3377184"/>
                <a:gridCol w="2955036"/>
              </a:tblGrid>
              <a:tr h="359271">
                <a:tc>
                  <a:txBody>
                    <a:bodyPr/>
                    <a:lstStyle/>
                    <a:p>
                      <a:pPr indent="0" marL="0">
                        <a:lnSpc>
                          <a:spcPts val="1820"/>
                        </a:lnSpc>
                        <a:buNone/>
                      </a:pPr>
                      <a:r>
                        <a:rPr lang="en-US" sz="1300" b="1" dirty="0">
                          <a:solidFill>
                            <a:srgbClr val="0E1B3D"/>
                          </a:solidFill>
                          <a:latin typeface="Libre Franklin" pitchFamily="34" charset="0"/>
                          <a:ea typeface="Libre Franklin" pitchFamily="34" charset="-122"/>
                          <a:cs typeface="Libre Franklin" pitchFamily="34" charset="-120"/>
                        </a:rPr>
                        <a:t>Evidencia</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ABCB6"/>
                      </a:solidFill>
                      <a:prstDash val="solid"/>
                      <a:round/>
                      <a:headEnd type="none" w="med" len="med"/>
                      <a:tailEnd type="none" w="med" len="med"/>
                    </a:lnL>
                    <a:lnR w="12700" cap="flat" cmpd="sng" algn="ctr">
                      <a:solidFill>
                        <a:srgbClr val="ADAFA9"/>
                      </a:solidFill>
                      <a:prstDash val="solid"/>
                      <a:round/>
                      <a:headEnd type="none" w="med" len="med"/>
                      <a:tailEnd type="none" w="med" len="med"/>
                    </a:lnR>
                    <a:lnT w="12700" cap="flat" cmpd="sng" algn="ctr">
                      <a:solidFill>
                        <a:srgbClr val="BABCB6"/>
                      </a:solidFill>
                      <a:prstDash val="solid"/>
                      <a:round/>
                      <a:headEnd type="none" w="med" len="med"/>
                      <a:tailEnd type="none" w="med" len="med"/>
                    </a:lnT>
                    <a:lnB w="12700" cap="flat" cmpd="sng" algn="ctr">
                      <a:solidFill>
                        <a:srgbClr val="ADAFA9"/>
                      </a:solidFill>
                      <a:prstDash val="solid"/>
                      <a:round/>
                      <a:headEnd type="none" w="med" len="med"/>
                      <a:tailEnd type="none" w="med" len="med"/>
                    </a:lnB>
                    <a:solidFill>
                      <a:srgbClr val="D8DBD3"/>
                    </a:solidFill>
                  </a:tcPr>
                </a:tc>
                <a:tc>
                  <a:txBody>
                    <a:bodyPr/>
                    <a:lstStyle/>
                    <a:p>
                      <a:pPr indent="0" marL="0">
                        <a:lnSpc>
                          <a:spcPts val="1820"/>
                        </a:lnSpc>
                        <a:buNone/>
                      </a:pPr>
                      <a:r>
                        <a:rPr lang="en-US" sz="1300" b="1" dirty="0">
                          <a:solidFill>
                            <a:srgbClr val="0E1B3D"/>
                          </a:solidFill>
                          <a:latin typeface="Libre Franklin" pitchFamily="34" charset="0"/>
                          <a:ea typeface="Libre Franklin" pitchFamily="34" charset="-122"/>
                          <a:cs typeface="Libre Franklin" pitchFamily="34" charset="-120"/>
                        </a:rPr>
                        <a:t>Mejora</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ADAFA9"/>
                      </a:solidFill>
                      <a:prstDash val="solid"/>
                      <a:round/>
                      <a:headEnd type="none" w="med" len="med"/>
                      <a:tailEnd type="none" w="med" len="med"/>
                    </a:lnL>
                    <a:lnR w="12700" cap="flat" cmpd="sng" algn="ctr">
                      <a:solidFill>
                        <a:srgbClr val="ADAFA9"/>
                      </a:solidFill>
                      <a:prstDash val="solid"/>
                      <a:round/>
                      <a:headEnd type="none" w="med" len="med"/>
                      <a:tailEnd type="none" w="med" len="med"/>
                    </a:lnR>
                    <a:lnT w="12700" cap="flat" cmpd="sng" algn="ctr">
                      <a:solidFill>
                        <a:srgbClr val="BABCB6"/>
                      </a:solidFill>
                      <a:prstDash val="solid"/>
                      <a:round/>
                      <a:headEnd type="none" w="med" len="med"/>
                      <a:tailEnd type="none" w="med" len="med"/>
                    </a:lnT>
                    <a:lnB w="12700" cap="flat" cmpd="sng" algn="ctr">
                      <a:solidFill>
                        <a:srgbClr val="ADAFA9"/>
                      </a:solidFill>
                      <a:prstDash val="solid"/>
                      <a:round/>
                      <a:headEnd type="none" w="med" len="med"/>
                      <a:tailEnd type="none" w="med" len="med"/>
                    </a:lnB>
                    <a:solidFill>
                      <a:srgbClr val="D8DBD3"/>
                    </a:solidFill>
                  </a:tcPr>
                </a:tc>
                <a:tc>
                  <a:txBody>
                    <a:bodyPr/>
                    <a:lstStyle/>
                    <a:p>
                      <a:pPr indent="0" marL="0">
                        <a:lnSpc>
                          <a:spcPts val="1820"/>
                        </a:lnSpc>
                        <a:buNone/>
                      </a:pPr>
                      <a:r>
                        <a:rPr lang="en-US" sz="1300" b="1" dirty="0">
                          <a:solidFill>
                            <a:srgbClr val="0E1B3D"/>
                          </a:solidFill>
                          <a:latin typeface="Libre Franklin" pitchFamily="34" charset="0"/>
                          <a:ea typeface="Libre Franklin" pitchFamily="34" charset="-122"/>
                          <a:cs typeface="Libre Franklin" pitchFamily="34" charset="-120"/>
                        </a:rPr>
                        <a:t>Principio</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ADAFA9"/>
                      </a:solidFill>
                      <a:prstDash val="solid"/>
                      <a:round/>
                      <a:headEnd type="none" w="med" len="med"/>
                      <a:tailEnd type="none" w="med" len="med"/>
                    </a:lnL>
                    <a:lnR w="12700" cap="flat" cmpd="sng" algn="ctr">
                      <a:solidFill>
                        <a:srgbClr val="ADAFA9"/>
                      </a:solidFill>
                      <a:prstDash val="solid"/>
                      <a:round/>
                      <a:headEnd type="none" w="med" len="med"/>
                      <a:tailEnd type="none" w="med" len="med"/>
                    </a:lnR>
                    <a:lnT w="12700" cap="flat" cmpd="sng" algn="ctr">
                      <a:solidFill>
                        <a:srgbClr val="BABCB6"/>
                      </a:solidFill>
                      <a:prstDash val="solid"/>
                      <a:round/>
                      <a:headEnd type="none" w="med" len="med"/>
                      <a:tailEnd type="none" w="med" len="med"/>
                    </a:lnT>
                    <a:lnB w="12700" cap="flat" cmpd="sng" algn="ctr">
                      <a:solidFill>
                        <a:srgbClr val="ADAFA9"/>
                      </a:solidFill>
                      <a:prstDash val="solid"/>
                      <a:round/>
                      <a:headEnd type="none" w="med" len="med"/>
                      <a:tailEnd type="none" w="med" len="med"/>
                    </a:lnB>
                    <a:solidFill>
                      <a:srgbClr val="D8DBD3"/>
                    </a:solidFill>
                  </a:tcPr>
                </a:tc>
              </a:tr>
              <a:tr h="359271">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4 de 4 toman el pago como cierre · problema 1</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ABCB6"/>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ADAFA9"/>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5F6F1"/>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Confirmación en dos pasos</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ADAFA9"/>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5F6F1"/>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Nielsen 1, Zeigarnik</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ADAFA9"/>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5F6F1"/>
                    </a:solidFill>
                  </a:tcPr>
                </a:tc>
              </a:tr>
              <a:tr h="359271">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Saldo sumado, 13 px y solo color · problema 2</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ABCB6"/>
                      </a:solidFill>
                      <a:prstDash val="solid"/>
                      <a:round/>
                      <a:headEnd type="none" w="med" len="med"/>
                      <a:tailEnd type="none" w="med" len="med"/>
                    </a:lnL>
                    <a:lnR w="12700" cap="flat" cmpd="sng" algn="ctr">
                      <a:solidFill>
                        <a:srgbClr val="BABCB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CB6"/>
                      </a:solidFill>
                      <a:prstDash val="solid"/>
                      <a:round/>
                      <a:headEnd type="none" w="med" len="med"/>
                      <a:tailEnd type="none" w="med" len="med"/>
                    </a:lnB>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Valores separados con icono y texto</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ABCB6"/>
                      </a:solidFill>
                      <a:prstDash val="solid"/>
                      <a:round/>
                      <a:headEnd type="none" w="med" len="med"/>
                      <a:tailEnd type="none" w="med" len="med"/>
                    </a:lnL>
                    <a:lnR w="12700" cap="flat" cmpd="sng" algn="ctr">
                      <a:solidFill>
                        <a:srgbClr val="BABCB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CB6"/>
                      </a:solidFill>
                      <a:prstDash val="solid"/>
                      <a:round/>
                      <a:headEnd type="none" w="med" len="med"/>
                      <a:tailEnd type="none" w="med" len="med"/>
                    </a:lnB>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WCAG 1.4.1</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ABCB6"/>
                      </a:solidFill>
                      <a:prstDash val="solid"/>
                      <a:round/>
                      <a:headEnd type="none" w="med" len="med"/>
                      <a:tailEnd type="none" w="med" len="med"/>
                    </a:lnL>
                    <a:lnR w="12700" cap="flat" cmpd="sng" algn="ctr">
                      <a:solidFill>
                        <a:srgbClr val="BABCB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CB6"/>
                      </a:solidFill>
                      <a:prstDash val="solid"/>
                      <a:round/>
                      <a:headEnd type="none" w="med" len="med"/>
                      <a:tailEnd type="none" w="med" len="med"/>
                    </a:lnB>
                  </a:tcPr>
                </a:tc>
              </a:tr>
              <a:tr h="590352">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«No está escrito en ninguna parte» (operadora) · problemas 3 y 4</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ABCB6"/>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CB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5F6F1"/>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«Me rechazaron» a un toque</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CB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5F6F1"/>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Nielsen 2 y 9, Hick</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CB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5F6F1"/>
                    </a:solidFill>
                  </a:tcPr>
                </a:tc>
              </a:tr>
              <a:tr h="359271">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Sin canal para verificar (adulto mayor) · problema 5</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ABCB6"/>
                      </a:solidFill>
                      <a:prstDash val="solid"/>
                      <a:round/>
                      <a:headEnd type="none" w="med" len="med"/>
                      <a:tailEnd type="none" w="med" len="med"/>
                    </a:lnL>
                    <a:lnR w="12700" cap="flat" cmpd="sng" algn="ctr">
                      <a:solidFill>
                        <a:srgbClr val="BABCB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CB6"/>
                      </a:solidFill>
                      <a:prstDash val="solid"/>
                      <a:round/>
                      <a:headEnd type="none" w="med" len="med"/>
                      <a:tailEnd type="none" w="med" len="med"/>
                    </a:lnB>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Aviso accionable y SMS</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ABCB6"/>
                      </a:solidFill>
                      <a:prstDash val="solid"/>
                      <a:round/>
                      <a:headEnd type="none" w="med" len="med"/>
                      <a:tailEnd type="none" w="med" len="med"/>
                    </a:lnL>
                    <a:lnR w="12700" cap="flat" cmpd="sng" algn="ctr">
                      <a:solidFill>
                        <a:srgbClr val="BABCB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CB6"/>
                      </a:solidFill>
                      <a:prstDash val="solid"/>
                      <a:round/>
                      <a:headEnd type="none" w="med" len="med"/>
                      <a:tailEnd type="none" w="med" len="med"/>
                    </a:lnB>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Nielsen 5, WCAG 2.2.1</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ABCB6"/>
                      </a:solidFill>
                      <a:prstDash val="solid"/>
                      <a:round/>
                      <a:headEnd type="none" w="med" len="med"/>
                      <a:tailEnd type="none" w="med" len="med"/>
                    </a:lnL>
                    <a:lnR w="12700" cap="flat" cmpd="sng" algn="ctr">
                      <a:solidFill>
                        <a:srgbClr val="BABCB6"/>
                      </a:solidFill>
                      <a:prstDash val="solid"/>
                      <a:round/>
                      <a:headEnd type="none" w="med" len="med"/>
                      <a:tailEnd type="none" w="med" len="med"/>
                    </a:lnR>
                    <a:lnT w="12700" cap="flat" cmpd="sng" algn="ctr">
                      <a:solidFill>
                        <a:srgbClr val="C4C4C0"/>
                      </a:solidFill>
                      <a:prstDash val="solid"/>
                      <a:round/>
                      <a:headEnd type="none" w="med" len="med"/>
                      <a:tailEnd type="none" w="med" len="med"/>
                    </a:lnT>
                    <a:lnB w="12700" cap="flat" cmpd="sng" algn="ctr">
                      <a:solidFill>
                        <a:srgbClr val="BABCB6"/>
                      </a:solidFill>
                      <a:prstDash val="solid"/>
                      <a:round/>
                      <a:headEnd type="none" w="med" len="med"/>
                      <a:tailEnd type="none" w="med" len="med"/>
                    </a:lnB>
                  </a:tcPr>
                </a:tc>
              </a:tr>
              <a:tr h="590352">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Sesión del 4 de octubre · problemas 6 y 7</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BABCB6"/>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CB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5F6F1"/>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Tarjeta asociada, paleta de marca, texto grande</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CB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5F6F1"/>
                    </a:solidFill>
                  </a:tcPr>
                </a:tc>
                <a:tc>
                  <a:txBody>
                    <a:bodyPr/>
                    <a:lstStyle/>
                    <a:p>
                      <a:pPr indent="0" marL="0">
                        <a:lnSpc>
                          <a:spcPts val="1820"/>
                        </a:lnSpc>
                        <a:buNone/>
                      </a:pPr>
                      <a:r>
                        <a:rPr lang="en-US" sz="1300" dirty="0">
                          <a:solidFill>
                            <a:srgbClr val="0E1B3D"/>
                          </a:solidFill>
                          <a:latin typeface="Libre Franklin" pitchFamily="34" charset="0"/>
                          <a:ea typeface="Libre Franklin" pitchFamily="34" charset="-122"/>
                          <a:cs typeface="Libre Franklin" pitchFamily="34" charset="-120"/>
                        </a:rPr>
                        <a:t>WCAG 3.3.7, 1.4.3, 1.4.4</a:t>
                      </a:r>
                      <a:endParaRPr lang="en-US" sz="1300" dirty="0">
                        <a:latin typeface="Libre Franklin" charset="0"/>
                        <a:ea typeface="Libre Franklin" charset="0"/>
                        <a:cs typeface="Libre Franklin" charset="0"/>
                      </a:endParaRPr>
                    </a:p>
                  </a:txBody>
                  <a:tcPr marL="57785" marR="57785" marT="57785" marB="57785" anchor="t">
                    <a:lnL w="12700" cap="flat" cmpd="sng" algn="ctr">
                      <a:solidFill>
                        <a:srgbClr val="C4C4C0"/>
                      </a:solidFill>
                      <a:prstDash val="solid"/>
                      <a:round/>
                      <a:headEnd type="none" w="med" len="med"/>
                      <a:tailEnd type="none" w="med" len="med"/>
                    </a:lnL>
                    <a:lnR w="12700" cap="flat" cmpd="sng" algn="ctr">
                      <a:solidFill>
                        <a:srgbClr val="C4C4C0"/>
                      </a:solidFill>
                      <a:prstDash val="solid"/>
                      <a:round/>
                      <a:headEnd type="none" w="med" len="med"/>
                      <a:tailEnd type="none" w="med" len="med"/>
                    </a:lnR>
                    <a:lnT w="12700" cap="flat" cmpd="sng" algn="ctr">
                      <a:solidFill>
                        <a:srgbClr val="BABCB6"/>
                      </a:solidFill>
                      <a:prstDash val="solid"/>
                      <a:round/>
                      <a:headEnd type="none" w="med" len="med"/>
                      <a:tailEnd type="none" w="med" len="med"/>
                    </a:lnT>
                    <a:lnB w="12700" cap="flat" cmpd="sng" algn="ctr">
                      <a:solidFill>
                        <a:srgbClr val="C4C4C0"/>
                      </a:solidFill>
                      <a:prstDash val="solid"/>
                      <a:round/>
                      <a:headEnd type="none" w="med" len="med"/>
                      <a:tailEnd type="none" w="med" len="med"/>
                    </a:lnB>
                    <a:solidFill>
                      <a:srgbClr val="F5F6F1"/>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1"/>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1D3FA0"/>
                </a:solidFill>
                <a:latin typeface="Libre Franklin" pitchFamily="34" charset="0"/>
                <a:ea typeface="Libre Franklin" pitchFamily="34" charset="-122"/>
                <a:cs typeface="Libre Franklin" pitchFamily="34" charset="-120"/>
              </a:rPr>
              <a:t>REFLEXIÓN FINAL</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0E1B3D"/>
                </a:solidFill>
                <a:latin typeface="Libre Franklin" pitchFamily="34" charset="0"/>
                <a:ea typeface="Libre Franklin" pitchFamily="34" charset="-122"/>
                <a:cs typeface="Libre Franklin" pitchFamily="34" charset="-120"/>
              </a:rPr>
              <a:t>Lo que aprendimos y lo que sigue</a:t>
            </a:r>
            <a:endParaRPr lang="en-US" sz="3600" dirty="0"/>
          </a:p>
        </p:txBody>
      </p:sp>
      <p:sp>
        <p:nvSpPr>
          <p:cNvPr id="4" name="Shape 2"/>
          <p:cNvSpPr/>
          <p:nvPr/>
        </p:nvSpPr>
        <p:spPr>
          <a:xfrm>
            <a:off x="812800" y="1935361"/>
            <a:ext cx="3420467" cy="4109839"/>
          </a:xfrm>
          <a:prstGeom prst="roundRect">
            <a:avLst>
              <a:gd name="adj" fmla="val 3713"/>
            </a:avLst>
          </a:prstGeom>
          <a:solidFill>
            <a:srgbClr val="FFFFFF"/>
          </a:solidFill>
          <a:ln/>
        </p:spPr>
      </p:sp>
      <p:sp>
        <p:nvSpPr>
          <p:cNvPr id="5" name="Shape 3"/>
          <p:cNvSpPr/>
          <p:nvPr/>
        </p:nvSpPr>
        <p:spPr>
          <a:xfrm>
            <a:off x="812800" y="1935361"/>
            <a:ext cx="3420467" cy="4109839"/>
          </a:xfrm>
          <a:custGeom>
            <a:avLst/>
            <a:gdLst/>
            <a:ahLst/>
            <a:cxnLst/>
            <a:rect l="l" t="t" r="r" b="b"/>
            <a:pathLst>
              <a:path w="3420467" h="4109839">
                <a:moveTo>
                  <a:pt x="0" y="127000"/>
                </a:moveTo>
                <a:lnTo>
                  <a:pt x="0" y="127000"/>
                </a:lnTo>
                <a:arcTo hR="127000" wR="127000" stAng="10800000" swAng="5400000"/>
                <a:lnTo>
                  <a:pt x="3293467" y="0"/>
                </a:lnTo>
                <a:arcTo hR="127000" wR="127000" stAng="16200000" swAng="5400000"/>
                <a:lnTo>
                  <a:pt x="3420467" y="127000"/>
                </a:lnTo>
                <a:arcTo hR="76200" wR="127000" stAng="0" swAng="-5400000"/>
                <a:lnTo>
                  <a:pt x="127000" y="50800"/>
                </a:lnTo>
                <a:arcTo hR="76200" wR="127000" stAng="16200000" swAng="-5400000"/>
                <a:close/>
              </a:path>
            </a:pathLst>
          </a:custGeom>
          <a:solidFill>
            <a:srgbClr val="1D3FA0"/>
          </a:solidFill>
          <a:ln/>
        </p:spPr>
      </p:sp>
      <p:sp>
        <p:nvSpPr>
          <p:cNvPr id="6" name="Text 4"/>
          <p:cNvSpPr/>
          <p:nvPr/>
        </p:nvSpPr>
        <p:spPr>
          <a:xfrm>
            <a:off x="1066800" y="2240161"/>
            <a:ext cx="2999841"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D3FA0"/>
                </a:solidFill>
                <a:latin typeface="Libre Franklin" pitchFamily="34" charset="0"/>
                <a:ea typeface="Libre Franklin" pitchFamily="34" charset="-122"/>
                <a:cs typeface="Libre Franklin" pitchFamily="34" charset="-120"/>
              </a:rPr>
              <a:t>Andrés</a:t>
            </a:r>
            <a:endParaRPr lang="en-US" sz="1200" dirty="0"/>
          </a:p>
        </p:txBody>
      </p:sp>
      <p:sp>
        <p:nvSpPr>
          <p:cNvPr id="7" name="Text 5"/>
          <p:cNvSpPr/>
          <p:nvPr/>
        </p:nvSpPr>
        <p:spPr>
          <a:xfrm>
            <a:off x="1066800" y="2555081"/>
            <a:ext cx="2999841"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Aprendizajes</a:t>
            </a:r>
            <a:endParaRPr lang="en-US" sz="1600" dirty="0"/>
          </a:p>
        </p:txBody>
      </p:sp>
      <p:sp>
        <p:nvSpPr>
          <p:cNvPr id="8" name="Text 6"/>
          <p:cNvSpPr/>
          <p:nvPr/>
        </p:nvSpPr>
        <p:spPr>
          <a:xfrm>
            <a:off x="1066800" y="2900462"/>
            <a:ext cx="2999841"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Libre Franklin" pitchFamily="34" charset="0"/>
                <a:ea typeface="Libre Franklin" pitchFamily="34" charset="-122"/>
                <a:cs typeface="Libre Franklin" pitchFamily="34" charset="-120"/>
              </a:rPr>
              <a:t>El problema estaba en el silencio entre dos pantallas.</a:t>
            </a:r>
            <a:endParaRPr lang="en-US" sz="1300" dirty="0"/>
          </a:p>
        </p:txBody>
      </p:sp>
      <p:sp>
        <p:nvSpPr>
          <p:cNvPr id="9" name="Text 7"/>
          <p:cNvSpPr/>
          <p:nvPr/>
        </p:nvSpPr>
        <p:spPr>
          <a:xfrm>
            <a:off x="1066800" y="3480693"/>
            <a:ext cx="2999841"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Libre Franklin" pitchFamily="34" charset="0"/>
                <a:ea typeface="Libre Franklin" pitchFamily="34" charset="-122"/>
                <a:cs typeface="Libre Franklin" pitchFamily="34" charset="-120"/>
              </a:rPr>
              <a:t>Desconfiar del propio diseño: la versión 1 repetía el error que criticábamos.</a:t>
            </a:r>
            <a:endParaRPr lang="en-US" sz="1300" dirty="0"/>
          </a:p>
        </p:txBody>
      </p:sp>
      <p:sp>
        <p:nvSpPr>
          <p:cNvPr id="10" name="Shape 8"/>
          <p:cNvSpPr/>
          <p:nvPr/>
        </p:nvSpPr>
        <p:spPr>
          <a:xfrm>
            <a:off x="4385667" y="1935361"/>
            <a:ext cx="3420566" cy="4109839"/>
          </a:xfrm>
          <a:prstGeom prst="roundRect">
            <a:avLst>
              <a:gd name="adj" fmla="val 3713"/>
            </a:avLst>
          </a:prstGeom>
          <a:solidFill>
            <a:srgbClr val="FFFFFF"/>
          </a:solidFill>
          <a:ln/>
        </p:spPr>
      </p:sp>
      <p:sp>
        <p:nvSpPr>
          <p:cNvPr id="11" name="Shape 9"/>
          <p:cNvSpPr/>
          <p:nvPr/>
        </p:nvSpPr>
        <p:spPr>
          <a:xfrm>
            <a:off x="4385667" y="1935361"/>
            <a:ext cx="3420566" cy="4109839"/>
          </a:xfrm>
          <a:custGeom>
            <a:avLst/>
            <a:gdLst/>
            <a:ahLst/>
            <a:cxnLst/>
            <a:rect l="l" t="t" r="r" b="b"/>
            <a:pathLst>
              <a:path w="3420566" h="4109839">
                <a:moveTo>
                  <a:pt x="0" y="127000"/>
                </a:moveTo>
                <a:lnTo>
                  <a:pt x="0" y="127000"/>
                </a:lnTo>
                <a:arcTo hR="127000" wR="127000" stAng="10800000" swAng="5400000"/>
                <a:lnTo>
                  <a:pt x="3293566" y="0"/>
                </a:lnTo>
                <a:arcTo hR="127000" wR="127000" stAng="16200000" swAng="5400000"/>
                <a:lnTo>
                  <a:pt x="3420566" y="127000"/>
                </a:lnTo>
                <a:arcTo hR="76200" wR="127000" stAng="0" swAng="-5400000"/>
                <a:lnTo>
                  <a:pt x="127000" y="50800"/>
                </a:lnTo>
                <a:arcTo hR="76200" wR="127000" stAng="16200000" swAng="-5400000"/>
                <a:close/>
              </a:path>
            </a:pathLst>
          </a:custGeom>
          <a:solidFill>
            <a:srgbClr val="8A5800"/>
          </a:solidFill>
          <a:ln/>
        </p:spPr>
      </p:sp>
      <p:sp>
        <p:nvSpPr>
          <p:cNvPr id="12" name="Text 10"/>
          <p:cNvSpPr/>
          <p:nvPr/>
        </p:nvSpPr>
        <p:spPr>
          <a:xfrm>
            <a:off x="4639667" y="2240161"/>
            <a:ext cx="29999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8A5800"/>
                </a:solidFill>
                <a:latin typeface="Libre Franklin" pitchFamily="34" charset="0"/>
                <a:ea typeface="Libre Franklin" pitchFamily="34" charset="-122"/>
                <a:cs typeface="Libre Franklin" pitchFamily="34" charset="-120"/>
              </a:rPr>
              <a:t>David M</a:t>
            </a:r>
            <a:endParaRPr lang="en-US" sz="1200" dirty="0"/>
          </a:p>
        </p:txBody>
      </p:sp>
      <p:sp>
        <p:nvSpPr>
          <p:cNvPr id="13" name="Text 11"/>
          <p:cNvSpPr/>
          <p:nvPr/>
        </p:nvSpPr>
        <p:spPr>
          <a:xfrm>
            <a:off x="4639667" y="2555081"/>
            <a:ext cx="299994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Limitaciones</a:t>
            </a:r>
            <a:endParaRPr lang="en-US" sz="1600" dirty="0"/>
          </a:p>
        </p:txBody>
      </p:sp>
      <p:sp>
        <p:nvSpPr>
          <p:cNvPr id="14" name="Text 12"/>
          <p:cNvSpPr/>
          <p:nvPr/>
        </p:nvSpPr>
        <p:spPr>
          <a:xfrm>
            <a:off x="4639667" y="2900462"/>
            <a:ext cx="2999943"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Libre Franklin" pitchFamily="34" charset="0"/>
                <a:ea typeface="Libre Franklin" pitchFamily="34" charset="-122"/>
                <a:cs typeface="Libre Franklin" pitchFamily="34" charset="-120"/>
              </a:rPr>
              <a:t>Evaluación sobre todo experta; usuarias del entorno familiar.</a:t>
            </a:r>
            <a:endParaRPr lang="en-US" sz="1300" dirty="0"/>
          </a:p>
        </p:txBody>
      </p:sp>
      <p:sp>
        <p:nvSpPr>
          <p:cNvPr id="15" name="Text 13"/>
          <p:cNvSpPr/>
          <p:nvPr/>
        </p:nvSpPr>
        <p:spPr>
          <a:xfrm>
            <a:off x="4639667" y="3480693"/>
            <a:ext cx="2999943"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Libre Franklin" pitchFamily="34" charset="0"/>
                <a:ea typeface="Libre Franklin" pitchFamily="34" charset="-122"/>
                <a:cs typeface="Libre Franklin" pitchFamily="34" charset="-120"/>
              </a:rPr>
              <a:t>Sin torniquete real. NFC, SMS y tiempos simulados.</a:t>
            </a:r>
            <a:endParaRPr lang="en-US" sz="1300" dirty="0"/>
          </a:p>
        </p:txBody>
      </p:sp>
      <p:sp>
        <p:nvSpPr>
          <p:cNvPr id="16" name="Shape 14"/>
          <p:cNvSpPr/>
          <p:nvPr/>
        </p:nvSpPr>
        <p:spPr>
          <a:xfrm>
            <a:off x="7958634" y="1935361"/>
            <a:ext cx="3420566" cy="4109839"/>
          </a:xfrm>
          <a:prstGeom prst="roundRect">
            <a:avLst>
              <a:gd name="adj" fmla="val 3713"/>
            </a:avLst>
          </a:prstGeom>
          <a:solidFill>
            <a:srgbClr val="FFFFFF"/>
          </a:solidFill>
          <a:ln/>
        </p:spPr>
      </p:sp>
      <p:sp>
        <p:nvSpPr>
          <p:cNvPr id="17" name="Shape 15"/>
          <p:cNvSpPr/>
          <p:nvPr/>
        </p:nvSpPr>
        <p:spPr>
          <a:xfrm>
            <a:off x="7958634" y="1935361"/>
            <a:ext cx="3420566" cy="4109839"/>
          </a:xfrm>
          <a:custGeom>
            <a:avLst/>
            <a:gdLst/>
            <a:ahLst/>
            <a:cxnLst/>
            <a:rect l="l" t="t" r="r" b="b"/>
            <a:pathLst>
              <a:path w="3420566" h="4109839">
                <a:moveTo>
                  <a:pt x="0" y="127000"/>
                </a:moveTo>
                <a:lnTo>
                  <a:pt x="0" y="127000"/>
                </a:lnTo>
                <a:arcTo hR="127000" wR="127000" stAng="10800000" swAng="5400000"/>
                <a:lnTo>
                  <a:pt x="3293566" y="0"/>
                </a:lnTo>
                <a:arcTo hR="127000" wR="127000" stAng="16200000" swAng="5400000"/>
                <a:lnTo>
                  <a:pt x="3420566" y="127000"/>
                </a:lnTo>
                <a:arcTo hR="76200" wR="127000" stAng="0" swAng="-5400000"/>
                <a:lnTo>
                  <a:pt x="127000" y="50800"/>
                </a:lnTo>
                <a:arcTo hR="76200" wR="127000" stAng="16200000" swAng="-5400000"/>
                <a:close/>
              </a:path>
            </a:pathLst>
          </a:custGeom>
          <a:solidFill>
            <a:srgbClr val="1E6B3A"/>
          </a:solidFill>
          <a:ln/>
        </p:spPr>
      </p:sp>
      <p:sp>
        <p:nvSpPr>
          <p:cNvPr id="18" name="Text 16"/>
          <p:cNvSpPr/>
          <p:nvPr/>
        </p:nvSpPr>
        <p:spPr>
          <a:xfrm>
            <a:off x="8212634" y="2240161"/>
            <a:ext cx="299994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E6B3A"/>
                </a:solidFill>
                <a:latin typeface="Libre Franklin" pitchFamily="34" charset="0"/>
                <a:ea typeface="Libre Franklin" pitchFamily="34" charset="-122"/>
                <a:cs typeface="Libre Franklin" pitchFamily="34" charset="-120"/>
              </a:rPr>
              <a:t>David C</a:t>
            </a:r>
            <a:endParaRPr lang="en-US" sz="1200" dirty="0"/>
          </a:p>
        </p:txBody>
      </p:sp>
      <p:sp>
        <p:nvSpPr>
          <p:cNvPr id="19" name="Text 17"/>
          <p:cNvSpPr/>
          <p:nvPr/>
        </p:nvSpPr>
        <p:spPr>
          <a:xfrm>
            <a:off x="8212634" y="2555081"/>
            <a:ext cx="2999943"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B3D"/>
                </a:solidFill>
                <a:latin typeface="Libre Franklin" pitchFamily="34" charset="0"/>
                <a:ea typeface="Libre Franklin" pitchFamily="34" charset="-122"/>
                <a:cs typeface="Libre Franklin" pitchFamily="34" charset="-120"/>
              </a:rPr>
              <a:t>Mejoras futuras</a:t>
            </a:r>
            <a:endParaRPr lang="en-US" sz="1600" dirty="0"/>
          </a:p>
        </p:txBody>
      </p:sp>
      <p:sp>
        <p:nvSpPr>
          <p:cNvPr id="20" name="Text 18"/>
          <p:cNvSpPr/>
          <p:nvPr/>
        </p:nvSpPr>
        <p:spPr>
          <a:xfrm>
            <a:off x="8212634" y="2900462"/>
            <a:ext cx="2999943" cy="74334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Libre Franklin" pitchFamily="34" charset="0"/>
                <a:ea typeface="Libre Franklin" pitchFamily="34" charset="-122"/>
                <a:cs typeface="Libre Franklin" pitchFamily="34" charset="-120"/>
              </a:rPr>
              <a:t>Prueba formal con cinco participantes, en estación, midiendo éxito, tiempo y facilidad.</a:t>
            </a:r>
            <a:endParaRPr lang="en-US" sz="1300" dirty="0"/>
          </a:p>
        </p:txBody>
      </p:sp>
      <p:sp>
        <p:nvSpPr>
          <p:cNvPr id="21" name="Text 19"/>
          <p:cNvSpPr/>
          <p:nvPr/>
        </p:nvSpPr>
        <p:spPr>
          <a:xfrm>
            <a:off x="8212634" y="3720009"/>
            <a:ext cx="2999943" cy="504031"/>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4A5568"/>
                </a:solidFill>
                <a:latin typeface="Libre Franklin" pitchFamily="34" charset="0"/>
                <a:ea typeface="Libre Franklin" pitchFamily="34" charset="-122"/>
                <a:cs typeface="Libre Franklin" pitchFamily="34" charset="-120"/>
              </a:rPr>
              <a:t>Lector de pantalla y el mismo distintivo de estado en el validador.</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B3D"/>
        </a:solidFill>
      </p:bgPr>
    </p:bg>
    <p:spTree>
      <p:nvGrpSpPr>
        <p:cNvPr id="1" name=""/>
        <p:cNvGrpSpPr/>
        <p:nvPr/>
      </p:nvGrpSpPr>
      <p:grpSpPr>
        <a:xfrm>
          <a:off x="0" y="0"/>
          <a:ext cx="0" cy="0"/>
          <a:chOff x="0" y="0"/>
          <a:chExt cx="0" cy="0"/>
        </a:xfrm>
      </p:grpSpPr>
      <p:sp>
        <p:nvSpPr>
          <p:cNvPr id="2" name="Text 0"/>
          <p:cNvSpPr/>
          <p:nvPr>
            <p:ph type="title"/>
          </p:nvPr>
        </p:nvSpPr>
        <p:spPr>
          <a:xfrm>
            <a:off x="812800" y="1918990"/>
            <a:ext cx="10883392" cy="1625600"/>
          </a:xfrm>
          <a:prstGeom prst="rect">
            <a:avLst/>
          </a:prstGeom>
          <a:noFill/>
          <a:ln/>
        </p:spPr>
        <p:txBody>
          <a:bodyPr wrap="square" lIns="0" tIns="0" rIns="0" bIns="0" rtlCol="0" anchor="t">
            <a:normAutofit/>
          </a:bodyPr>
          <a:lstStyle/>
          <a:p>
            <a:pPr algn="l" indent="0" marL="0">
              <a:lnSpc>
                <a:spcPts val="6300"/>
              </a:lnSpc>
              <a:buNone/>
            </a:pPr>
            <a:r>
              <a:rPr lang="en-US" sz="6000" b="1" i="0" dirty="0">
                <a:solidFill>
                  <a:srgbClr val="F5F6F1"/>
                </a:solidFill>
                <a:latin typeface="Libre Franklin" pitchFamily="34" charset="0"/>
                <a:ea typeface="Libre Franklin" pitchFamily="34" charset="-122"/>
                <a:cs typeface="Libre Franklin" pitchFamily="34" charset="-120"/>
              </a:rPr>
              <a:t>Pagar todavía no es poder viajar.</a:t>
            </a:r>
            <a:endParaRPr lang="en-US" sz="6000" dirty="0"/>
          </a:p>
        </p:txBody>
      </p:sp>
      <p:sp>
        <p:nvSpPr>
          <p:cNvPr id="3" name="Text 1"/>
          <p:cNvSpPr/>
          <p:nvPr/>
        </p:nvSpPr>
        <p:spPr>
          <a:xfrm>
            <a:off x="812800" y="3823990"/>
            <a:ext cx="10883392" cy="551160"/>
          </a:xfrm>
          <a:prstGeom prst="rect">
            <a:avLst/>
          </a:prstGeom>
          <a:noFill/>
          <a:ln/>
        </p:spPr>
        <p:txBody>
          <a:bodyPr wrap="square" lIns="0" tIns="0" rIns="0" bIns="0" rtlCol="0" anchor="t">
            <a:normAutofit/>
          </a:bodyPr>
          <a:lstStyle/>
          <a:p>
            <a:pPr algn="l" indent="0" marL="0">
              <a:lnSpc>
                <a:spcPts val="4140"/>
              </a:lnSpc>
              <a:buNone/>
            </a:pPr>
            <a:r>
              <a:rPr lang="en-US" sz="3600" b="1" dirty="0">
                <a:solidFill>
                  <a:srgbClr val="C3D82E"/>
                </a:solidFill>
                <a:latin typeface="Libre Franklin" pitchFamily="34" charset="0"/>
                <a:ea typeface="Libre Franklin" pitchFamily="34" charset="-122"/>
                <a:cs typeface="Libre Franklin" pitchFamily="34" charset="-120"/>
              </a:rPr>
              <a:t>Pero ahora Yeimy lo sabe antes del torniquete.</a:t>
            </a:r>
            <a:endParaRPr lang="en-US" sz="3600" dirty="0"/>
          </a:p>
        </p:txBody>
      </p:sp>
      <p:sp>
        <p:nvSpPr>
          <p:cNvPr id="4" name="Text 2"/>
          <p:cNvSpPr/>
          <p:nvPr/>
        </p:nvSpPr>
        <p:spPr>
          <a:xfrm>
            <a:off x="812800" y="4654550"/>
            <a:ext cx="10883392"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FC8DA"/>
                </a:solidFill>
                <a:latin typeface="Libre Franklin" pitchFamily="34" charset="0"/>
                <a:ea typeface="Libre Franklin" pitchFamily="34" charset="-122"/>
                <a:cs typeface="Libre Franklin" pitchFamily="34" charset="-120"/>
              </a:rPr>
              <a:t>Gracias · Andrés Meneses · David Monsalve · David Cifuentes</a:t>
            </a:r>
            <a:endParaRPr lang="en-US" sz="1600" dirty="0"/>
          </a:p>
        </p:txBody>
      </p:sp>
    </p:spTree>
  </p:cSld>
  <p:clrMapOvr>
    <a:masterClrMapping/>
  </p:clrMapOvr>
</p:sld>
</file>

<file path=ppt/theme/theme1.xml><?xml version="1.0" encoding="utf-8"?>
<a:theme xmlns:a="http://schemas.openxmlformats.org/drawingml/2006/main" name="Listo para viajar – Sustentación final">
  <a:themeElements>
    <a:clrScheme name="Listo para viajar – Sustentación final">
      <a:dk1>
        <a:srgbClr val="0E1B3D"/>
      </a:dk1>
      <a:lt1>
        <a:srgbClr val="F5F6F1"/>
      </a:lt1>
      <a:dk2>
        <a:srgbClr val="48526A"/>
      </a:dk2>
      <a:lt2>
        <a:srgbClr val="DEE0DF"/>
      </a:lt2>
      <a:accent1>
        <a:srgbClr val="1D3FA0"/>
      </a:accent1>
      <a:accent2>
        <a:srgbClr val="C3D82E"/>
      </a:accent2>
      <a:accent3>
        <a:srgbClr val="1E6B3A"/>
      </a:accent3>
      <a:accent4>
        <a:srgbClr val="A30C0C"/>
      </a:accent4>
      <a:accent5>
        <a:srgbClr val="8A5800"/>
      </a:accent5>
      <a:accent6>
        <a:srgbClr val="4A5568"/>
      </a:accent6>
      <a:hlink>
        <a:srgbClr val="0563C1"/>
      </a:hlink>
      <a:folHlink>
        <a:srgbClr val="954F72"/>
      </a:folHlink>
    </a:clrScheme>
    <a:fontScheme name="Listo para viajar – Sustentación final">
      <a:majorFont>
        <a:latin typeface="Libre Frankli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Libre Frankli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Listo para viajar – Sustentación final</dc:title>
  <dc:subject/>
  <dc:creator/>
  <cp:lastModifiedBy/>
  <cp:revision>1</cp:revision>
  <dcterms:created xsi:type="dcterms:W3CDTF">2026-10-14T22:49:44Z</dcterms:created>
  <dcterms:modified xsi:type="dcterms:W3CDTF">2026-10-14T22:49:44Z</dcterms:modified>
</cp:coreProperties>
</file>